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403" r:id="rId2"/>
    <p:sldId id="420" r:id="rId3"/>
    <p:sldId id="404" r:id="rId4"/>
    <p:sldId id="409" r:id="rId5"/>
    <p:sldId id="405" r:id="rId6"/>
    <p:sldId id="410" r:id="rId7"/>
    <p:sldId id="407" r:id="rId8"/>
    <p:sldId id="411" r:id="rId9"/>
    <p:sldId id="412" r:id="rId10"/>
    <p:sldId id="413" r:id="rId11"/>
    <p:sldId id="414" r:id="rId12"/>
    <p:sldId id="415" r:id="rId13"/>
    <p:sldId id="416" r:id="rId14"/>
    <p:sldId id="417" r:id="rId15"/>
    <p:sldId id="418" r:id="rId16"/>
    <p:sldId id="419" r:id="rId17"/>
    <p:sldId id="421" r:id="rId18"/>
    <p:sldId id="422" r:id="rId19"/>
    <p:sldId id="423" r:id="rId20"/>
    <p:sldId id="408" r:id="rId21"/>
    <p:sldId id="424" r:id="rId22"/>
  </p:sldIdLst>
  <p:sldSz cx="9144000" cy="5143500" type="screen16x9"/>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7">
          <p15:clr>
            <a:srgbClr val="A4A3A4"/>
          </p15:clr>
        </p15:guide>
        <p15:guide id="2" pos="29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B2FF"/>
    <a:srgbClr val="F6806C"/>
    <a:srgbClr val="FF00FF"/>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107" d="100"/>
          <a:sy n="107" d="100"/>
        </p:scale>
        <p:origin x="778" y="72"/>
      </p:cViewPr>
      <p:guideLst>
        <p:guide orient="horz" pos="1587"/>
        <p:guide pos="2914"/>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fontAlgn="auto">
              <a:spcBef>
                <a:spcPts val="0"/>
              </a:spcBef>
              <a:spcAft>
                <a:spcPts val="0"/>
              </a:spcAft>
              <a:defRPr sz="1200">
                <a:latin typeface="+mn-lt"/>
                <a:cs typeface="+mn-cs"/>
              </a:defRPr>
            </a:lvl1pPr>
          </a:lstStyle>
          <a:p>
            <a:pPr>
              <a:defRPr/>
            </a:pPr>
            <a:r>
              <a:rPr lang="en-US"/>
              <a:t>4/8/2013</a:t>
            </a:r>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fontAlgn="auto">
              <a:spcBef>
                <a:spcPts val="0"/>
              </a:spcBef>
              <a:spcAft>
                <a:spcPts val="0"/>
              </a:spcAft>
              <a:defRPr sz="1200">
                <a:latin typeface="+mn-lt"/>
                <a:cs typeface="+mn-cs"/>
              </a:defRPr>
            </a:lvl1pPr>
          </a:lstStyle>
          <a:p>
            <a:pPr>
              <a:defRPr/>
            </a:pPr>
            <a:fld id="{234CFCA1-EE9A-4BE3-A443-39F74B32AF8E}"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fontAlgn="auto">
              <a:spcBef>
                <a:spcPts val="0"/>
              </a:spcBef>
              <a:spcAft>
                <a:spcPts val="0"/>
              </a:spcAft>
              <a:defRPr sz="1200">
                <a:latin typeface="+mn-lt"/>
                <a:cs typeface="+mn-cs"/>
              </a:defRPr>
            </a:lvl1pPr>
          </a:lstStyle>
          <a:p>
            <a:pPr>
              <a:defRPr/>
            </a:pPr>
            <a:r>
              <a:rPr lang="en-US"/>
              <a:t>4/8/2013</a:t>
            </a:r>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pPr lvl="0"/>
            <a:endParaRPr lang="en-US" noProof="0"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fontAlgn="auto">
              <a:spcBef>
                <a:spcPts val="0"/>
              </a:spcBef>
              <a:spcAft>
                <a:spcPts val="0"/>
              </a:spcAft>
              <a:defRPr sz="1200">
                <a:latin typeface="+mn-lt"/>
                <a:cs typeface="+mn-cs"/>
              </a:defRPr>
            </a:lvl1pPr>
          </a:lstStyle>
          <a:p>
            <a:pPr>
              <a:defRPr/>
            </a:pPr>
            <a:fld id="{2DFF61DA-84D3-45ED-92CD-21A6F76C5DD3}" type="slidenum">
              <a:rPr lang="en-US"/>
              <a:pPr>
                <a:defRPr/>
              </a:pPr>
              <a:t>‹#›</a:t>
            </a:fld>
            <a:endParaRPr lang="en-US"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dirty="0"/>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409575" y="698500"/>
            <a:ext cx="6203950" cy="3490913"/>
          </a:xfrm>
          <a:noFill/>
          <a:ln>
            <a:solidFill>
              <a:srgbClr val="000000"/>
            </a:solidFill>
            <a:miter lim="800000"/>
          </a:ln>
        </p:spPr>
      </p:sp>
      <p:sp>
        <p:nvSpPr>
          <p:cNvPr id="24579" name="Notes Placeholder 2"/>
          <p:cNvSpPr>
            <a:spLocks noGrp="1"/>
          </p:cNvSpPr>
          <p:nvPr>
            <p:ph type="body" idx="1"/>
          </p:nvPr>
        </p:nvSpPr>
        <p:spPr bwMode="auto">
          <a:noFill/>
        </p:spPr>
        <p:txBody>
          <a:bodyPr wrap="square" numCol="1" anchor="t" anchorCtr="0" compatLnSpc="1"/>
          <a:lstStyle/>
          <a:p>
            <a:pPr>
              <a:spcBef>
                <a:spcPct val="0"/>
              </a:spcBef>
            </a:pPr>
            <a:endParaRPr lang="en-US"/>
          </a:p>
        </p:txBody>
      </p:sp>
      <p:sp>
        <p:nvSpPr>
          <p:cNvPr id="24580" name="Slide Number Placeholder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7D516F-3EA2-4ECB-80DB-FE21B07F17C4}" type="slidenum">
              <a:rPr lang="en-US"/>
              <a:pPr fontAlgn="base">
                <a:spcBef>
                  <a:spcPct val="0"/>
                </a:spcBef>
                <a:spcAft>
                  <a:spcPct val="0"/>
                </a:spcAft>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5"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1" y="569214"/>
            <a:ext cx="7543800" cy="267462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9" y="3341716"/>
            <a:ext cx="7543800" cy="85725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7D0766D9-623F-4A42-BE2F-45110FBAA6F2}" type="datetime1">
              <a:rPr lang="en-US" smtClean="0"/>
              <a:pPr>
                <a:defRPr/>
              </a:pPr>
              <a:t>4/18/2025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DEE6E46-7078-4EA2-ABFA-0029B4746EB8}" type="slidenum">
              <a:rPr lang="en-US" smtClean="0"/>
              <a:pPr>
                <a:defRPr/>
              </a:pPr>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08C20DC-94B4-4F35-B361-990EC08CBB05}" type="datetime1">
              <a:rPr lang="en-US" smtClean="0"/>
              <a:pPr>
                <a:defRPr/>
              </a:pPr>
              <a:t>4/18/2025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F8FCC96-C06B-44B1-8880-B198B268BB3F}"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5"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1" y="569214"/>
            <a:ext cx="7543800" cy="267462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1" y="3339846"/>
            <a:ext cx="7543800" cy="85725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2822F121-5942-49DF-A1B3-9B6DE3602DEE}" type="datetime1">
              <a:rPr lang="en-US" smtClean="0"/>
              <a:pPr>
                <a:defRPr/>
              </a:pPr>
              <a:t>4/18/2025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0D80B5F-F170-4136-B431-B6C9BBC99E71}" type="slidenum">
              <a:rPr lang="en-US" smtClean="0"/>
              <a:pPr>
                <a:defRPr/>
              </a:pPr>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1"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1" y="1384301"/>
            <a:ext cx="3703320" cy="3017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1" y="1384305"/>
            <a:ext cx="3703320" cy="30175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C7BDE83C-4DB9-410A-8A0B-A796D7744944}" type="datetime1">
              <a:rPr lang="en-US" smtClean="0"/>
              <a:pPr>
                <a:defRPr/>
              </a:pPr>
              <a:t>4/18/2025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F08550C-BA55-495D-AFAE-A52A28F686AF}" type="slidenum">
              <a:rPr lang="en-US" smtClean="0"/>
              <a:pPr>
                <a:defRPr/>
              </a:pPr>
              <a:t>‹#›</a:t>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1"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1" y="1384540"/>
            <a:ext cx="3703320" cy="55221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1" y="1936752"/>
            <a:ext cx="3703320" cy="24650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1" y="1384540"/>
            <a:ext cx="3703320" cy="55221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1" y="1936752"/>
            <a:ext cx="3703320" cy="24650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25221420-B63E-4D32-B2BC-9B98555C1681}" type="datetime1">
              <a:rPr lang="en-US" smtClean="0"/>
              <a:pPr>
                <a:defRPr/>
              </a:pPr>
              <a:t>4/18/2025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834277C-8FB7-4436-BFA7-34C8751A4AA1}"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AB703DB2-66B2-4205-970A-8990BAC973DE}" type="datetime1">
              <a:rPr lang="en-US" smtClean="0"/>
              <a:pPr>
                <a:defRPr/>
              </a:pPr>
              <a:t>4/18/2025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7719700-1A93-4040-A05C-A035089E859E}" type="slidenum">
              <a:rPr lang="en-US" smtClean="0"/>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5"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4B47304A-F5F2-4127-8B2D-2E16C4BFF045}" type="datetime1">
              <a:rPr lang="en-US" smtClean="0"/>
              <a:pPr>
                <a:defRPr/>
              </a:pPr>
              <a:t>4/18/2025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EEBE767F-F6EF-43B9-A95A-C227A614E9CD}" type="slidenum">
              <a:rPr lang="en-US" smtClean="0"/>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1" cy="17145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41" y="548640"/>
            <a:ext cx="5009394" cy="39433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2"/>
            <a:ext cx="2400301" cy="2534343"/>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8" y="4844841"/>
            <a:ext cx="1963883" cy="273844"/>
          </a:xfrm>
        </p:spPr>
        <p:txBody>
          <a:bodyPr/>
          <a:lstStyle>
            <a:lvl1pPr algn="l">
              <a:defRPr/>
            </a:lvl1pPr>
          </a:lstStyle>
          <a:p>
            <a:pPr>
              <a:defRPr/>
            </a:pPr>
            <a:fld id="{E014BEAA-766C-4AB1-87F9-D297097842D3}" type="datetime1">
              <a:rPr lang="en-US" smtClean="0"/>
              <a:pPr>
                <a:defRPr/>
              </a:pPr>
              <a:t>4/18/2025</a:t>
            </a:fld>
            <a:endParaRPr lang="en-US"/>
          </a:p>
        </p:txBody>
      </p:sp>
      <p:sp>
        <p:nvSpPr>
          <p:cNvPr id="6" name="Footer Placeholder 5"/>
          <p:cNvSpPr>
            <a:spLocks noGrp="1"/>
          </p:cNvSpPr>
          <p:nvPr>
            <p:ph type="ftr" sz="quarter" idx="11"/>
          </p:nvPr>
        </p:nvSpPr>
        <p:spPr>
          <a:xfrm>
            <a:off x="3600450" y="4844841"/>
            <a:ext cx="3486150" cy="273844"/>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4A4EEC09-0EDC-4A0A-8B30-32E14B7C66A0}" type="slidenum">
              <a:rPr lang="en-US" smtClean="0"/>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4"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9520" cy="61722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6" y="2"/>
            <a:ext cx="9143989" cy="3686307"/>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8" y="4430268"/>
            <a:ext cx="7589520" cy="44577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816913E8-088E-4001-86C0-4C22A4900387}" type="datetime1">
              <a:rPr lang="en-US" smtClean="0"/>
              <a:pPr>
                <a:defRPr/>
              </a:pPr>
              <a:t>4/18/2025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ACFE671-3451-4B77-81B3-CAEE48F26BD5}" type="slidenum">
              <a:rPr lang="en-US" smtClean="0"/>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B1B2A81-8A49-438F-8ED6-12DBA1E5B5DA}" type="datetime1">
              <a:rPr lang="en-US" smtClean="0"/>
              <a:pPr>
                <a:defRPr/>
              </a:pPr>
              <a:t>4/18/2025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CEFCAB9-C80F-4F3E-BE0C-B1AA15D1DCF4}" type="slidenum">
              <a:rPr lang="en-US" smtClean="0"/>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5"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9" y="311086"/>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5" y="311084"/>
            <a:ext cx="5800725" cy="4318065"/>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93D9C1E-AA2A-4A76-B7B0-BE0AADD20137}" type="datetime1">
              <a:rPr lang="en-US" smtClean="0"/>
              <a:pPr>
                <a:defRPr/>
              </a:pPr>
              <a:t>4/18/2025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DCBACD4-08FE-478C-9FA3-075CF0CC422C}"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4800600"/>
            <a:ext cx="9144002"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4750738"/>
            <a:ext cx="9144002"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1"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8" y="1384301"/>
            <a:ext cx="7543802" cy="301752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5" y="4844841"/>
            <a:ext cx="1854203" cy="273844"/>
          </a:xfrm>
          <a:prstGeom prst="rect">
            <a:avLst/>
          </a:prstGeom>
        </p:spPr>
        <p:txBody>
          <a:bodyPr vert="horz" lIns="91440" tIns="45720" rIns="91440" bIns="45720" rtlCol="0" anchor="ctr"/>
          <a:lstStyle>
            <a:lvl1pPr algn="l">
              <a:defRPr sz="900">
                <a:solidFill>
                  <a:srgbClr val="FFFFFF"/>
                </a:solidFill>
              </a:defRPr>
            </a:lvl1pPr>
          </a:lstStyle>
          <a:p>
            <a:pPr>
              <a:defRPr/>
            </a:pPr>
            <a:fld id="{C7BDE83C-4DB9-410A-8A0B-A796D7744944}" type="datetime1">
              <a:rPr lang="en-US" smtClean="0"/>
              <a:pPr>
                <a:defRPr/>
              </a:pPr>
              <a:t>4/18/2025</a:t>
            </a:fld>
            <a:endParaRPr lang="en-US"/>
          </a:p>
        </p:txBody>
      </p:sp>
      <p:sp>
        <p:nvSpPr>
          <p:cNvPr id="5" name="Footer Placeholder 4"/>
          <p:cNvSpPr>
            <a:spLocks noGrp="1"/>
          </p:cNvSpPr>
          <p:nvPr>
            <p:ph type="ftr" sz="quarter" idx="3"/>
          </p:nvPr>
        </p:nvSpPr>
        <p:spPr>
          <a:xfrm>
            <a:off x="2764643" y="4844841"/>
            <a:ext cx="3617102" cy="273844"/>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8" y="4844841"/>
            <a:ext cx="984019" cy="273844"/>
          </a:xfrm>
          <a:prstGeom prst="rect">
            <a:avLst/>
          </a:prstGeom>
        </p:spPr>
        <p:txBody>
          <a:bodyPr vert="horz" lIns="91440" tIns="45720" rIns="91440" bIns="45720" rtlCol="0" anchor="ctr"/>
          <a:lstStyle>
            <a:lvl1pPr algn="r">
              <a:defRPr sz="1050">
                <a:solidFill>
                  <a:srgbClr val="FFFFFF"/>
                </a:solidFill>
              </a:defRPr>
            </a:lvl1pPr>
          </a:lstStyle>
          <a:p>
            <a:pPr>
              <a:defRPr/>
            </a:pPr>
            <a:fld id="{DF08550C-BA55-495D-AFAE-A52A28F686AF}" type="slidenum">
              <a:rPr lang="en-US" smtClean="0"/>
              <a:pPr>
                <a:defRPr/>
              </a:pPr>
              <a:t>‹#›</a:t>
            </a:fld>
            <a:endParaRPr lang="en-US" dirty="0"/>
          </a:p>
        </p:txBody>
      </p:sp>
      <p:cxnSp>
        <p:nvCxnSpPr>
          <p:cNvPr id="10" name="Straight Connector 9"/>
          <p:cNvCxnSpPr/>
          <p:nvPr/>
        </p:nvCxnSpPr>
        <p:spPr>
          <a:xfrm>
            <a:off x="895151" y="1303384"/>
            <a:ext cx="7475221"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AB33811-B98D-4F75-864E-6278AC82CE26}"/>
              </a:ext>
            </a:extLst>
          </p:cNvPr>
          <p:cNvSpPr txBox="1"/>
          <p:nvPr/>
        </p:nvSpPr>
        <p:spPr>
          <a:xfrm>
            <a:off x="132737" y="60646"/>
            <a:ext cx="8716296" cy="918713"/>
          </a:xfrm>
          <a:prstGeom prst="rect">
            <a:avLst/>
          </a:prstGeom>
          <a:noFill/>
        </p:spPr>
        <p:txBody>
          <a:bodyPr wrap="square" lIns="68580" tIns="34290" rIns="68580" bIns="34290">
            <a:spAutoFit/>
          </a:bodyPr>
          <a:lstStyle/>
          <a:p>
            <a:pPr algn="ctr">
              <a:lnSpc>
                <a:spcPct val="115000"/>
              </a:lnSpc>
              <a:tabLst>
                <a:tab pos="6229350" algn="l"/>
                <a:tab pos="6343650" algn="l"/>
              </a:tabLst>
            </a:pPr>
            <a:r>
              <a:rPr lang="en-US" sz="2400" b="1" dirty="0">
                <a:solidFill>
                  <a:srgbClr val="002060"/>
                </a:solidFill>
                <a:latin typeface="Times New Roman"/>
                <a:ea typeface="Calibri"/>
                <a:cs typeface="Times New Roman"/>
              </a:rPr>
              <a:t>SRI VENKATESWARA COLLEGE OF ENGINEERING</a:t>
            </a:r>
            <a:endParaRPr lang="en-US" sz="1600" dirty="0">
              <a:ea typeface="Calibri"/>
              <a:cs typeface="Times New Roman"/>
            </a:endParaRPr>
          </a:p>
          <a:p>
            <a:pPr algn="ctr">
              <a:lnSpc>
                <a:spcPct val="115000"/>
              </a:lnSpc>
              <a:tabLst>
                <a:tab pos="6229350" algn="l"/>
                <a:tab pos="6343650" algn="l"/>
              </a:tabLst>
            </a:pPr>
            <a:r>
              <a:rPr lang="en-US" sz="2400" b="1" dirty="0">
                <a:solidFill>
                  <a:srgbClr val="002060"/>
                </a:solidFill>
                <a:latin typeface="Times New Roman"/>
                <a:ea typeface="Calibri"/>
                <a:cs typeface="Times New Roman"/>
              </a:rPr>
              <a:t>(AUTONOMOUS)</a:t>
            </a:r>
            <a:endParaRPr lang="en-US" sz="1600" dirty="0">
              <a:ea typeface="Calibri"/>
              <a:cs typeface="Times New Roman"/>
            </a:endParaRPr>
          </a:p>
        </p:txBody>
      </p:sp>
      <p:sp>
        <p:nvSpPr>
          <p:cNvPr id="13" name="Rectangle 1">
            <a:extLst>
              <a:ext uri="{FF2B5EF4-FFF2-40B4-BE49-F238E27FC236}">
                <a16:creationId xmlns:a16="http://schemas.microsoft.com/office/drawing/2014/main" id="{2C186B84-93FA-4702-8083-B3C7946A071C}"/>
              </a:ext>
            </a:extLst>
          </p:cNvPr>
          <p:cNvSpPr>
            <a:spLocks noChangeArrowheads="1"/>
          </p:cNvSpPr>
          <p:nvPr/>
        </p:nvSpPr>
        <p:spPr bwMode="auto">
          <a:xfrm>
            <a:off x="381000" y="2023705"/>
            <a:ext cx="8141882" cy="68480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ctr"/>
            <a:r>
              <a:rPr lang="en-IN" sz="2000" b="1" dirty="0">
                <a:solidFill>
                  <a:srgbClr val="0070C0"/>
                </a:solidFill>
                <a:latin typeface="Century Gothic" pitchFamily="34" charset="0"/>
              </a:rPr>
              <a:t>High-Efficiency Synchronous Binary Counter with Minimal Clock period Using Optimized Parallel Architecture</a:t>
            </a:r>
          </a:p>
        </p:txBody>
      </p:sp>
      <p:sp>
        <p:nvSpPr>
          <p:cNvPr id="16" name="TextBox 15">
            <a:extLst>
              <a:ext uri="{FF2B5EF4-FFF2-40B4-BE49-F238E27FC236}">
                <a16:creationId xmlns:a16="http://schemas.microsoft.com/office/drawing/2014/main" id="{1B726FD8-CC3F-45A1-A0D1-FE32FBB2E9C7}"/>
              </a:ext>
            </a:extLst>
          </p:cNvPr>
          <p:cNvSpPr txBox="1"/>
          <p:nvPr/>
        </p:nvSpPr>
        <p:spPr>
          <a:xfrm>
            <a:off x="1447800" y="971550"/>
            <a:ext cx="6835140" cy="301301"/>
          </a:xfrm>
          <a:prstGeom prst="rect">
            <a:avLst/>
          </a:prstGeom>
          <a:noFill/>
        </p:spPr>
        <p:txBody>
          <a:bodyPr wrap="square" lIns="68580" tIns="34290" rIns="68580" bIns="34290">
            <a:spAutoFit/>
          </a:bodyPr>
          <a:lstStyle/>
          <a:p>
            <a:pPr algn="ctr">
              <a:lnSpc>
                <a:spcPct val="115000"/>
              </a:lnSpc>
              <a:tabLst>
                <a:tab pos="6229350" algn="l"/>
                <a:tab pos="6343650" algn="l"/>
              </a:tabLst>
            </a:pPr>
            <a:r>
              <a:rPr lang="en-US" sz="1400" b="1" dirty="0">
                <a:solidFill>
                  <a:srgbClr val="E80061"/>
                </a:solidFill>
                <a:latin typeface="Times New Roman"/>
                <a:ea typeface="Calibri"/>
                <a:cs typeface="Times New Roman"/>
              </a:rPr>
              <a:t>DEPARTMENT OF ELECTRONICS AND COMMUNICATION ENGINEERING</a:t>
            </a:r>
            <a:endParaRPr lang="en-US" sz="1100" dirty="0">
              <a:ea typeface="Calibri"/>
              <a:cs typeface="Times New Roman"/>
            </a:endParaRPr>
          </a:p>
        </p:txBody>
      </p:sp>
      <p:sp>
        <p:nvSpPr>
          <p:cNvPr id="18" name="TextBox 17">
            <a:extLst>
              <a:ext uri="{FF2B5EF4-FFF2-40B4-BE49-F238E27FC236}">
                <a16:creationId xmlns:a16="http://schemas.microsoft.com/office/drawing/2014/main" id="{5B63B85E-04B5-4280-9CD6-3CE9FB2ED26B}"/>
              </a:ext>
            </a:extLst>
          </p:cNvPr>
          <p:cNvSpPr txBox="1"/>
          <p:nvPr/>
        </p:nvSpPr>
        <p:spPr>
          <a:xfrm>
            <a:off x="228599" y="2952750"/>
            <a:ext cx="4114801" cy="1361911"/>
          </a:xfrm>
          <a:prstGeom prst="rect">
            <a:avLst/>
          </a:prstGeom>
          <a:noFill/>
          <a:ln>
            <a:solidFill>
              <a:schemeClr val="accent1"/>
            </a:solidFill>
          </a:ln>
        </p:spPr>
        <p:txBody>
          <a:bodyPr wrap="square" lIns="68580" tIns="34290" rIns="68580" bIns="34290">
            <a:spAutoFit/>
          </a:bodyPr>
          <a:lstStyle/>
          <a:p>
            <a:pPr algn="just" fontAlgn="base"/>
            <a:r>
              <a:rPr lang="en-IN" sz="1400" b="1" u="sng" dirty="0">
                <a:solidFill>
                  <a:srgbClr val="000000"/>
                </a:solidFill>
                <a:latin typeface="Quattrocento Sans"/>
              </a:rPr>
              <a:t>TEAM MEMBERS</a:t>
            </a:r>
            <a:r>
              <a:rPr lang="en-IN" sz="1400" b="1" dirty="0">
                <a:solidFill>
                  <a:srgbClr val="000000"/>
                </a:solidFill>
                <a:latin typeface="Quattrocento Sans"/>
              </a:rPr>
              <a:t>:</a:t>
            </a:r>
          </a:p>
          <a:p>
            <a:pPr marL="342900" indent="-342900">
              <a:buFont typeface="+mj-lt"/>
              <a:buAutoNum type="arabicPeriod"/>
            </a:pPr>
            <a:r>
              <a:rPr lang="en-US" sz="1400" b="1" dirty="0"/>
              <a:t>KUNCHAM JHANSI MEGHANA        21BF1A04B9</a:t>
            </a:r>
            <a:endParaRPr lang="en-US" sz="1400" dirty="0"/>
          </a:p>
          <a:p>
            <a:pPr marL="342900" indent="-342900">
              <a:buFont typeface="+mj-lt"/>
              <a:buAutoNum type="arabicPeriod"/>
            </a:pPr>
            <a:r>
              <a:rPr lang="en-US" sz="1400" b="1" dirty="0"/>
              <a:t>M REDDY REKHA                                21BF1A04C2</a:t>
            </a:r>
            <a:endParaRPr lang="en-US" sz="1400" dirty="0"/>
          </a:p>
          <a:p>
            <a:pPr marL="342900" indent="-342900">
              <a:buFont typeface="+mj-lt"/>
              <a:buAutoNum type="arabicPeriod"/>
            </a:pPr>
            <a:r>
              <a:rPr lang="en-US" sz="1400" b="1" dirty="0"/>
              <a:t>MOPUR S MOHITH                            21BF1A04C3</a:t>
            </a:r>
            <a:endParaRPr lang="en-US" sz="1400" dirty="0"/>
          </a:p>
          <a:p>
            <a:pPr marL="342900" indent="-342900">
              <a:buFont typeface="+mj-lt"/>
              <a:buAutoNum type="arabicPeriod"/>
            </a:pPr>
            <a:r>
              <a:rPr lang="en-US" sz="1400" b="1" dirty="0"/>
              <a:t>V CHAITHANYA                                   21BF1A04C8</a:t>
            </a:r>
            <a:endParaRPr lang="en-US" sz="1400" dirty="0"/>
          </a:p>
          <a:p>
            <a:pPr marL="342900" indent="-342900">
              <a:buFont typeface="+mj-lt"/>
              <a:buAutoNum type="arabicPeriod"/>
            </a:pPr>
            <a:r>
              <a:rPr lang="en-US" sz="1400" b="1" dirty="0"/>
              <a:t>YADIKI ANITHA                                   22BF5A0414</a:t>
            </a:r>
            <a:endParaRPr lang="en-US" sz="1400" dirty="0"/>
          </a:p>
        </p:txBody>
      </p:sp>
      <p:sp>
        <p:nvSpPr>
          <p:cNvPr id="20" name="TextBox 19">
            <a:extLst>
              <a:ext uri="{FF2B5EF4-FFF2-40B4-BE49-F238E27FC236}">
                <a16:creationId xmlns:a16="http://schemas.microsoft.com/office/drawing/2014/main" id="{3DC5C023-3DE0-4F98-992D-359C48EA8E4D}"/>
              </a:ext>
            </a:extLst>
          </p:cNvPr>
          <p:cNvSpPr txBox="1"/>
          <p:nvPr/>
        </p:nvSpPr>
        <p:spPr>
          <a:xfrm>
            <a:off x="1351493" y="1581150"/>
            <a:ext cx="1461205" cy="284693"/>
          </a:xfrm>
          <a:prstGeom prst="rect">
            <a:avLst/>
          </a:prstGeom>
          <a:noFill/>
        </p:spPr>
        <p:txBody>
          <a:bodyPr wrap="square" lIns="68580" tIns="34290" rIns="68580" bIns="34290">
            <a:spAutoFit/>
          </a:bodyPr>
          <a:lstStyle/>
          <a:p>
            <a:pPr algn="just" fontAlgn="base"/>
            <a:r>
              <a:rPr lang="en-IN" sz="1400" b="1" dirty="0">
                <a:solidFill>
                  <a:srgbClr val="000000"/>
                </a:solidFill>
                <a:latin typeface="Quattrocento Sans"/>
              </a:rPr>
              <a:t>SECTION–ECE-B</a:t>
            </a:r>
          </a:p>
        </p:txBody>
      </p:sp>
      <p:sp>
        <p:nvSpPr>
          <p:cNvPr id="21" name="TextBox 20">
            <a:extLst>
              <a:ext uri="{FF2B5EF4-FFF2-40B4-BE49-F238E27FC236}">
                <a16:creationId xmlns:a16="http://schemas.microsoft.com/office/drawing/2014/main" id="{4806876F-69D8-479F-9B7D-5F7EBE4BD583}"/>
              </a:ext>
            </a:extLst>
          </p:cNvPr>
          <p:cNvSpPr txBox="1"/>
          <p:nvPr/>
        </p:nvSpPr>
        <p:spPr>
          <a:xfrm>
            <a:off x="6705600" y="1581150"/>
            <a:ext cx="1260987" cy="284693"/>
          </a:xfrm>
          <a:prstGeom prst="rect">
            <a:avLst/>
          </a:prstGeom>
          <a:noFill/>
        </p:spPr>
        <p:txBody>
          <a:bodyPr wrap="square" lIns="68580" tIns="34290" rIns="68580" bIns="34290">
            <a:spAutoFit/>
          </a:bodyPr>
          <a:lstStyle/>
          <a:p>
            <a:pPr algn="just" fontAlgn="base"/>
            <a:r>
              <a:rPr lang="en-IN" sz="1400" b="1" dirty="0">
                <a:solidFill>
                  <a:srgbClr val="000000"/>
                </a:solidFill>
                <a:latin typeface="Quattrocento Sans"/>
              </a:rPr>
              <a:t>BATCH NO -13</a:t>
            </a:r>
          </a:p>
        </p:txBody>
      </p:sp>
      <p:sp>
        <p:nvSpPr>
          <p:cNvPr id="25" name="TextBox 24">
            <a:extLst>
              <a:ext uri="{FF2B5EF4-FFF2-40B4-BE49-F238E27FC236}">
                <a16:creationId xmlns:a16="http://schemas.microsoft.com/office/drawing/2014/main" id="{DBC97B9B-EEBB-4320-A310-73D457BCC385}"/>
              </a:ext>
            </a:extLst>
          </p:cNvPr>
          <p:cNvSpPr txBox="1"/>
          <p:nvPr/>
        </p:nvSpPr>
        <p:spPr>
          <a:xfrm>
            <a:off x="4800600" y="3028950"/>
            <a:ext cx="3666327" cy="931024"/>
          </a:xfrm>
          <a:prstGeom prst="rect">
            <a:avLst/>
          </a:prstGeom>
          <a:noFill/>
          <a:ln>
            <a:solidFill>
              <a:schemeClr val="accent6"/>
            </a:solidFill>
          </a:ln>
        </p:spPr>
        <p:txBody>
          <a:bodyPr wrap="square" lIns="68580" tIns="34290" rIns="68580" bIns="34290">
            <a:spAutoFit/>
          </a:bodyPr>
          <a:lstStyle/>
          <a:p>
            <a:r>
              <a:rPr lang="en-US" sz="1400" b="1" u="sng" dirty="0">
                <a:latin typeface="Quattrocento Sans"/>
              </a:rPr>
              <a:t>UNDER THE ESTEEMED GUIDANCE OF:</a:t>
            </a:r>
          </a:p>
          <a:p>
            <a:r>
              <a:rPr lang="en-US" sz="1400" b="1" dirty="0">
                <a:solidFill>
                  <a:srgbClr val="C00000"/>
                </a:solidFill>
              </a:rPr>
              <a:t>                      </a:t>
            </a:r>
            <a:r>
              <a:rPr lang="en-US" sz="1400" b="1" dirty="0" err="1">
                <a:solidFill>
                  <a:srgbClr val="C00000"/>
                </a:solidFill>
              </a:rPr>
              <a:t>Mrs.K.Amala</a:t>
            </a:r>
            <a:r>
              <a:rPr lang="en-US" sz="1400" b="1" dirty="0">
                <a:solidFill>
                  <a:srgbClr val="C00000"/>
                </a:solidFill>
              </a:rPr>
              <a:t>, </a:t>
            </a:r>
            <a:r>
              <a:rPr lang="en-US" sz="1050" b="1" dirty="0" err="1">
                <a:solidFill>
                  <a:srgbClr val="C00000"/>
                </a:solidFill>
              </a:rPr>
              <a:t>M.Tech</a:t>
            </a:r>
            <a:endParaRPr lang="en-US" sz="1050" dirty="0">
              <a:solidFill>
                <a:srgbClr val="C00000"/>
              </a:solidFill>
            </a:endParaRPr>
          </a:p>
          <a:p>
            <a:pPr algn="ctr"/>
            <a:r>
              <a:rPr lang="en-US" sz="1400" b="1" u="sng" dirty="0" err="1">
                <a:solidFill>
                  <a:srgbClr val="C00000"/>
                </a:solidFill>
                <a:latin typeface="Quattrocento Sans"/>
              </a:rPr>
              <a:t>Asst.Professor</a:t>
            </a:r>
            <a:endParaRPr lang="en-US" sz="1400" b="1" u="sng" dirty="0">
              <a:solidFill>
                <a:srgbClr val="C00000"/>
              </a:solidFill>
              <a:latin typeface="Quattrocento Sans"/>
            </a:endParaRPr>
          </a:p>
          <a:p>
            <a:r>
              <a:rPr lang="en-US" sz="1400" b="1" u="sng" dirty="0">
                <a:latin typeface="Quattrocento Sans"/>
              </a:rPr>
              <a:t> </a:t>
            </a:r>
          </a:p>
        </p:txBody>
      </p:sp>
      <p:sp>
        <p:nvSpPr>
          <p:cNvPr id="12" name="Rectangle 11"/>
          <p:cNvSpPr/>
          <p:nvPr/>
        </p:nvSpPr>
        <p:spPr>
          <a:xfrm>
            <a:off x="1905000" y="4774168"/>
            <a:ext cx="4596130"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1026" name="image1.jpeg"/>
          <p:cNvPicPr>
            <a:picLocks noChangeAspect="1" noChangeArrowheads="1"/>
          </p:cNvPicPr>
          <p:nvPr/>
        </p:nvPicPr>
        <p:blipFill>
          <a:blip r:embed="rId2"/>
          <a:srcRect/>
          <a:stretch>
            <a:fillRect/>
          </a:stretch>
        </p:blipFill>
        <p:spPr bwMode="auto">
          <a:xfrm>
            <a:off x="0" y="438150"/>
            <a:ext cx="897743" cy="846137"/>
          </a:xfrm>
          <a:prstGeom prst="rect">
            <a:avLst/>
          </a:prstGeom>
          <a:noFill/>
          <a:ln w="9525">
            <a:noFill/>
            <a:miter lim="800000"/>
            <a:headEnd/>
            <a:tailEnd/>
          </a:ln>
        </p:spPr>
      </p:pic>
    </p:spTree>
    <p:extLst>
      <p:ext uri="{BB962C8B-B14F-4D97-AF65-F5344CB8AC3E}">
        <p14:creationId xmlns:p14="http://schemas.microsoft.com/office/powerpoint/2010/main" val="2516275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CONTENTS</a:t>
            </a:r>
          </a:p>
        </p:txBody>
      </p:sp>
      <p:sp>
        <p:nvSpPr>
          <p:cNvPr id="7" name="Content Placeholder 6"/>
          <p:cNvSpPr>
            <a:spLocks noGrp="1"/>
          </p:cNvSpPr>
          <p:nvPr>
            <p:ph idx="4294967295"/>
          </p:nvPr>
        </p:nvSpPr>
        <p:spPr>
          <a:xfrm>
            <a:off x="228600" y="295275"/>
            <a:ext cx="8432800" cy="4343401"/>
          </a:xfrm>
        </p:spPr>
        <p:txBody>
          <a:bodyPr>
            <a:normAutofit fontScale="25000" lnSpcReduction="20000"/>
          </a:bodyPr>
          <a:lstStyle/>
          <a:p>
            <a:pPr marL="0" indent="0" algn="just">
              <a:buClr>
                <a:srgbClr val="0070C0"/>
              </a:buClr>
              <a:buNone/>
            </a:pPr>
            <a:endParaRPr lang="en-US" sz="3700" b="1"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Wingdings" panose="05000000000000000000" pitchFamily="2" charset="2"/>
              <a:buChar char="q"/>
            </a:pPr>
            <a:r>
              <a:rPr lang="en-US" sz="36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a:t>
            </a: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Problem Identification</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Objectives</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Abstract</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Introduction</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Motivation of the Project</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Existing Method &amp; Dis-advantages</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Proposed Method</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Block Diagram &amp; Methodology</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Tools Required</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Advantages &amp;  Applications</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Results and discussions</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Conclusion </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Future Scope</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References</a:t>
            </a:r>
          </a:p>
          <a:p>
            <a:pPr algn="just">
              <a:buClr>
                <a:srgbClr val="0070C0"/>
              </a:buClr>
              <a:buFont typeface="Wingdings" panose="05000000000000000000" pitchFamily="2" charset="2"/>
              <a:buChar char="q"/>
            </a:pPr>
            <a:r>
              <a:rPr lang="en-US" sz="40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Publication details</a:t>
            </a:r>
          </a:p>
          <a:p>
            <a:pPr algn="just">
              <a:buClr>
                <a:srgbClr val="0070C0"/>
              </a:buClr>
              <a:buFont typeface="Wingdings" panose="05000000000000000000" pitchFamily="2" charset="2"/>
              <a:buChar char="q"/>
            </a:pPr>
            <a:endParaRPr lang="en-US" sz="36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400110"/>
          </a:xfrm>
          <a:prstGeom prst="rect">
            <a:avLst/>
          </a:prstGeom>
        </p:spPr>
        <p:txBody>
          <a:bodyPr wrap="square">
            <a:spAutoFit/>
          </a:bodyPr>
          <a:lstStyle/>
          <a:p>
            <a:pPr algn="ctr"/>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9"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10" name="Rectangle 9"/>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PROBLEM IDENTIFICATION</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Propagation Delay: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Sequential carry propagation limits clock speed.</a:t>
            </a: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High Power Consumption: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Unnecessary toggling increases energy usage.</a:t>
            </a: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Scalability Issues: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Performance degrades with higher bit-width.</a:t>
            </a: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Need for Optimization: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Lack of parallelism affects efficiency in high-speed systems.</a:t>
            </a: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OBJECTIVES</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Minimize Clock Period: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Design a binary counter with reduced propagation delays.</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Enhance Performance: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Achieve high-speed operation with efficient parallel architecture.</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Improve Scalability: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Ensure the counter performs efficiently for higher bit-widths.</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Reduce Power Consumption: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Optimize the design for energy-efficient applications.</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ABSTRACT</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IN" dirty="0">
                <a:solidFill>
                  <a:srgbClr val="0070C0"/>
                </a:solidFill>
              </a:rPr>
              <a:t>An ideal parallel design for a clock-period minimal constant-time synchronous binary counter is presented in it. The architecture makes use of two types of 8-bit synchronous binary counters: one that uses a ripple carry chain and the other that uses backward carry propagation. In addition, it presents an altered 64-bit </a:t>
            </a:r>
            <a:r>
              <a:rPr lang="en-IN" dirty="0" err="1">
                <a:solidFill>
                  <a:srgbClr val="0070C0"/>
                </a:solidFill>
              </a:rPr>
              <a:t>prescaled</a:t>
            </a:r>
            <a:r>
              <a:rPr lang="en-IN" dirty="0">
                <a:solidFill>
                  <a:srgbClr val="0070C0"/>
                </a:solidFill>
              </a:rPr>
              <a:t> counter that generates </a:t>
            </a:r>
            <a:r>
              <a:rPr lang="en-IN" dirty="0" err="1">
                <a:solidFill>
                  <a:srgbClr val="0070C0"/>
                </a:solidFill>
              </a:rPr>
              <a:t>prescaled</a:t>
            </a:r>
            <a:r>
              <a:rPr lang="en-IN" dirty="0">
                <a:solidFill>
                  <a:srgbClr val="0070C0"/>
                </a:solidFill>
              </a:rPr>
              <a:t> enable signals by means of ring counters. Our proposed design shows considerable benefits over current approaches. which has 131 area registers, 68 LUTs, and 66 IOBs, the suggested method uses 99 area registers, 65 LUTs, and 66 IOBs, reducing the area footprint in terms of hardware resources. the current method's latency is 1.172 ns, but the new architecture's latency is 0.978 ns. Additionally, the suggested approach shows improved power efficiency, using only 0.00107 W as opposed to 0.0162 W for the current method. </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400110"/>
          </a:xfrm>
          <a:prstGeom prst="rect">
            <a:avLst/>
          </a:prstGeom>
        </p:spPr>
        <p:txBody>
          <a:bodyPr wrap="square">
            <a:spAutoFit/>
          </a:bodyPr>
          <a:lstStyle/>
          <a:p>
            <a:pPr algn="ctr"/>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INTRODUCTION</a:t>
            </a:r>
          </a:p>
        </p:txBody>
      </p:sp>
      <p:sp>
        <p:nvSpPr>
          <p:cNvPr id="7" name="Content Placeholder 6"/>
          <p:cNvSpPr>
            <a:spLocks noGrp="1"/>
          </p:cNvSpPr>
          <p:nvPr>
            <p:ph idx="4294967295"/>
          </p:nvPr>
        </p:nvSpPr>
        <p:spPr>
          <a:xfrm>
            <a:off x="228600" y="666750"/>
            <a:ext cx="8432800" cy="3723323"/>
          </a:xfrm>
        </p:spPr>
        <p:txBody>
          <a:bodyPr>
            <a:normAutofit/>
          </a:bodyPr>
          <a:lstStyle/>
          <a:p>
            <a:pPr marL="0" indent="0" algn="just">
              <a:buClr>
                <a:srgbClr val="0070C0"/>
              </a:buClr>
              <a:buNone/>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A constant-time synchronous binary counter is a digital circuit designed to count in binary increments (or decrements) at a fixed and predictable rate. Unlike traditional counters that may experience variable delays due to carry propagation, a constant-time counter ensures that each count transition occurs within a consistent time interval.</a:t>
            </a:r>
          </a:p>
          <a:p>
            <a:pPr marL="0" indent="0" algn="just">
              <a:buClr>
                <a:srgbClr val="0070C0"/>
              </a:buClr>
              <a:buNone/>
            </a:pPr>
            <a:r>
              <a:rPr lang="en-IN"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This property is crucial in applications that require precise timing and synchronization,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such as</a:t>
            </a:r>
          </a:p>
          <a:p>
            <a:pPr algn="just">
              <a:lnSpc>
                <a:spcPct val="100000"/>
              </a:lnSpc>
              <a:buClr>
                <a:srgbClr val="0070C0"/>
              </a:buClr>
              <a:buFont typeface="Wingdings" panose="05000000000000000000" pitchFamily="2" charset="2"/>
              <a:buChar char="§"/>
            </a:pPr>
            <a:r>
              <a:rPr lang="en-IN"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communication systems</a:t>
            </a:r>
          </a:p>
          <a:p>
            <a:pPr algn="just">
              <a:buClr>
                <a:srgbClr val="0070C0"/>
              </a:buClr>
              <a:buFont typeface="Wingdings" panose="05000000000000000000" pitchFamily="2" charset="2"/>
              <a:buChar char="§"/>
            </a:pPr>
            <a:r>
              <a:rPr lang="en-IN"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signal processing and </a:t>
            </a:r>
          </a:p>
          <a:p>
            <a:pPr algn="just">
              <a:buClr>
                <a:srgbClr val="0070C0"/>
              </a:buClr>
              <a:buFont typeface="Wingdings" panose="05000000000000000000" pitchFamily="2" charset="2"/>
              <a:buChar char="§"/>
            </a:pPr>
            <a:r>
              <a:rPr lang="en-IN"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embedded systems. </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Wingdings" panose="05000000000000000000" pitchFamily="2" charset="2"/>
              <a:buChar char="§"/>
            </a:pPr>
            <a:endParaRPr lang="en-IN"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400110"/>
          </a:xfrm>
          <a:prstGeom prst="rect">
            <a:avLst/>
          </a:prstGeom>
        </p:spPr>
        <p:txBody>
          <a:bodyPr wrap="square">
            <a:spAutoFit/>
          </a:bodyPr>
          <a:lstStyle/>
          <a:p>
            <a:pPr algn="ctr"/>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MOTIVATION OF THE PROJECT</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Demand for Speed: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Increasing need for high-speed counters in modern digital systems.</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Power Efficiency: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Importance of reducing energy consumption in low-power applications.</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Scalability Challenges: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Addressing inefficiencies in traditional counters for larger bit-widths.</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Technological Advancement: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Leveraging optimized parallel architectures for better performance.</a:t>
            </a: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EXISTING METHOD</a:t>
            </a:r>
          </a:p>
        </p:txBody>
      </p:sp>
      <p:sp>
        <p:nvSpPr>
          <p:cNvPr id="7" name="Content Placeholder 6"/>
          <p:cNvSpPr>
            <a:spLocks noGrp="1"/>
          </p:cNvSpPr>
          <p:nvPr>
            <p:ph idx="4294967295"/>
          </p:nvPr>
        </p:nvSpPr>
        <p:spPr>
          <a:xfrm>
            <a:off x="228600" y="666750"/>
            <a:ext cx="8432800" cy="3723323"/>
          </a:xfrm>
        </p:spPr>
        <p:txBody>
          <a:bodyPr>
            <a:normAutofit/>
          </a:bodyPr>
          <a:lstStyle/>
          <a:p>
            <a:pPr marL="0" indent="0" algn="just">
              <a:buClr>
                <a:srgbClr val="0070C0"/>
              </a:buClr>
              <a:buNone/>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Traditional Synchronous Counter:</a:t>
            </a:r>
          </a:p>
          <a:p>
            <a:pPr marL="0" indent="0" algn="just">
              <a:buClr>
                <a:srgbClr val="0070C0"/>
              </a:buClr>
              <a:buNone/>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It uses a clock to update flip-flops at the same time but can be based on different counting systems (e.g., binary, decimal).</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How It Works: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All parts of the counter are updated together with the same clock signal.</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Components: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Consists of flip-flops, gates, and a clock generator to manage the timing.</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DISADVANTAGES</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Slower Speed: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The speed is limited by the slowest part of the counter.</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High Power Consumption: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More components mean higher power usage.</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Scaling Issues: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As the counter size grows, delays and power consumption increase.</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Difficult to Design: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Synchronizing all parts becomes challenging with more bits.</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PROPOSED METHOD</a:t>
            </a:r>
          </a:p>
        </p:txBody>
      </p:sp>
      <p:sp>
        <p:nvSpPr>
          <p:cNvPr id="7" name="Content Placeholder 6"/>
          <p:cNvSpPr>
            <a:spLocks noGrp="1"/>
          </p:cNvSpPr>
          <p:nvPr>
            <p:ph idx="4294967295"/>
          </p:nvPr>
        </p:nvSpPr>
        <p:spPr>
          <a:xfrm>
            <a:off x="228600" y="666750"/>
            <a:ext cx="8432800" cy="3723323"/>
          </a:xfrm>
        </p:spPr>
        <p:txBody>
          <a:bodyPr>
            <a:normAutofit/>
          </a:bodyPr>
          <a:lstStyle/>
          <a:p>
            <a:pPr marL="0" indent="0" algn="just">
              <a:buClr>
                <a:srgbClr val="0070C0"/>
              </a:buClr>
              <a:buNone/>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Parallel Architecture with Minimized Clock Period</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Parallel Architecture: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Divide the counter into smaller parallel units to process multiple bits simultaneously. Reduces overall delay by allowing faster individual bit updates.</a:t>
            </a:r>
          </a:p>
          <a:p>
            <a:pPr algn="just">
              <a:buClr>
                <a:srgbClr val="0070C0"/>
              </a:buClr>
              <a:buFont typeface="Arial" panose="020B0604020202020204" pitchFamily="34" charset="0"/>
              <a:buChar char="•"/>
            </a:pPr>
            <a:r>
              <a:rPr lang="en-IN"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Minimized Clock Period: </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Optimize logic to reduce the time needed for each clock cycle. Uses faster gates and optimized flip-flops to achieve high-speed performance with a shorter clock period</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BLOCK DIAGRAM</a:t>
            </a: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pic>
        <p:nvPicPr>
          <p:cNvPr id="5" name="Picture 4">
            <a:extLst>
              <a:ext uri="{FF2B5EF4-FFF2-40B4-BE49-F238E27FC236}">
                <a16:creationId xmlns:a16="http://schemas.microsoft.com/office/drawing/2014/main" id="{F0CAE9A2-4EBB-D32E-821C-EA4682F81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512" y="704850"/>
            <a:ext cx="7229397" cy="3924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METHODOLOGY</a:t>
            </a:r>
          </a:p>
        </p:txBody>
      </p:sp>
      <p:sp>
        <p:nvSpPr>
          <p:cNvPr id="7" name="Content Placeholder 6"/>
          <p:cNvSpPr>
            <a:spLocks noGrp="1"/>
          </p:cNvSpPr>
          <p:nvPr>
            <p:ph idx="4294967295"/>
          </p:nvPr>
        </p:nvSpPr>
        <p:spPr>
          <a:xfrm>
            <a:off x="228600" y="666750"/>
            <a:ext cx="8432800" cy="3723323"/>
          </a:xfrm>
        </p:spPr>
        <p:txBody>
          <a:bodyPr>
            <a:normAutofit/>
          </a:bodyPr>
          <a:lstStyle/>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Requirements Analysis -Identify Core Requirements - </a:t>
            </a:r>
            <a:r>
              <a:rPr lang="en-IN" dirty="0" err="1">
                <a:solidFill>
                  <a:srgbClr val="0070C0"/>
                </a:solidFill>
                <a:latin typeface="Cambria" panose="02040503050406030204" pitchFamily="18" charset="0"/>
                <a:ea typeface="Cambria" panose="02040503050406030204" pitchFamily="18" charset="0"/>
                <a:cs typeface="Times New Roman" panose="02020603050405020304" pitchFamily="18" charset="0"/>
              </a:rPr>
              <a:t>Analyze</a:t>
            </a: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 Constraints</a:t>
            </a:r>
          </a:p>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Architectural Design -Choose Architecture - Optimize for Performance</a:t>
            </a:r>
          </a:p>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Logic Design -Design the Counter Logic -Optimize the Design</a:t>
            </a:r>
          </a:p>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Synthesis and Simulation -Synthesize the Design -Simulate the Design</a:t>
            </a:r>
          </a:p>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 Physical Design - Place and Route -Clock Tree Synthesis</a:t>
            </a:r>
          </a:p>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6. Verification and Testing - Static Timing Analysis (STA) - Formal Verification-Testing</a:t>
            </a:r>
          </a:p>
          <a:p>
            <a:pPr marL="457200" indent="-457200" algn="just">
              <a:buClr>
                <a:srgbClr val="0070C0"/>
              </a:buClr>
              <a:buAutoNum type="arabicPeriod"/>
            </a:pPr>
            <a:r>
              <a:rPr lang="en-IN" dirty="0">
                <a:solidFill>
                  <a:srgbClr val="0070C0"/>
                </a:solidFill>
                <a:latin typeface="Cambria" panose="02040503050406030204" pitchFamily="18" charset="0"/>
                <a:ea typeface="Cambria" panose="02040503050406030204" pitchFamily="18" charset="0"/>
                <a:cs typeface="Times New Roman" panose="02020603050405020304" pitchFamily="18" charset="0"/>
              </a:rPr>
              <a:t>Implementation and Testing-FPGA Implementation -ASIC Implementation</a:t>
            </a: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REQUIREMENTS</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endParaRPr lang="en-GB" sz="2000" b="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r>
              <a:rPr lang="en-GB" sz="2000" b="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Software Requirements</a:t>
            </a:r>
          </a:p>
          <a:p>
            <a:pPr marL="0" indent="0" algn="just">
              <a:buClr>
                <a:srgbClr val="0070C0"/>
              </a:buClr>
              <a:buNone/>
            </a:pPr>
            <a:r>
              <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a:t>
            </a:r>
            <a:r>
              <a:rPr lang="en-GB" sz="2000"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Xilinx ISE 14.7</a:t>
            </a:r>
          </a:p>
          <a:p>
            <a:pPr algn="just">
              <a:buClr>
                <a:srgbClr val="0070C0"/>
              </a:buClr>
              <a:buFont typeface="Arial" panose="020B0604020202020204" pitchFamily="34" charset="0"/>
              <a:buChar char="•"/>
            </a:pPr>
            <a:r>
              <a:rPr lang="en-IN" b="1"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Hardware Requirements </a:t>
            </a:r>
          </a:p>
          <a:p>
            <a:pPr marL="0" indent="0" algn="just">
              <a:buClr>
                <a:srgbClr val="0070C0"/>
              </a:buClr>
              <a:buNone/>
            </a:pPr>
            <a:r>
              <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Hard Disk – 1GB</a:t>
            </a:r>
          </a:p>
          <a:p>
            <a:pPr marL="0" indent="0" algn="just">
              <a:buClr>
                <a:srgbClr val="0070C0"/>
              </a:buClr>
              <a:buNone/>
            </a:pPr>
            <a:r>
              <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RAM – 4GB</a:t>
            </a:r>
          </a:p>
          <a:p>
            <a:pPr marL="0" indent="0" algn="just">
              <a:buClr>
                <a:srgbClr val="0070C0"/>
              </a:buClr>
              <a:buNone/>
            </a:pPr>
            <a:r>
              <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Laptop</a:t>
            </a:r>
          </a:p>
          <a:p>
            <a:pPr marL="0" indent="0" algn="just">
              <a:buClr>
                <a:srgbClr val="0070C0"/>
              </a:buClr>
              <a:buNone/>
            </a:pPr>
            <a:r>
              <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rPr>
              <a:t>* Windows – 10 OS</a:t>
            </a:r>
          </a:p>
          <a:p>
            <a:pPr marL="0" indent="0" algn="just">
              <a:buClr>
                <a:srgbClr val="0070C0"/>
              </a:buClr>
              <a:buNone/>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IN"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GB" dirty="0">
              <a:solidFill>
                <a:srgbClr val="0070C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ADVANTAGES</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Reduced Clock Period: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Achieves faster counting speeds by minimizing propagation delays.</a:t>
            </a: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High Performance: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Optimized parallel architecture ensures quick transitions between states.</a:t>
            </a: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Improved Accuracy: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Synchronous design eliminates glitches common in asynchronous counters.</a:t>
            </a:r>
          </a:p>
          <a:p>
            <a:pPr algn="just">
              <a:buClr>
                <a:srgbClr val="0070C0"/>
              </a:buClr>
              <a:buFont typeface="Arial" panose="020B0604020202020204" pitchFamily="34" charset="0"/>
              <a:buChar char="•"/>
            </a:pPr>
            <a:r>
              <a:rPr lang="en-US"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Energy Efficiency: </a:t>
            </a: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Reduced power consumption due to streamlined logic and minimized clock cycles.</a:t>
            </a: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APPLICATIONS</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Digital Signal Processing (DSP)</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Real-Time Systems</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Microprocessors and CPUs</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Frequency Division</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Communication Systems</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Embedded Systems</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Measurement and Test Equipment</a:t>
            </a:r>
          </a:p>
          <a:p>
            <a:pPr algn="just">
              <a:buClr>
                <a:srgbClr val="0070C0"/>
              </a:buClr>
              <a:buFont typeface="Arial" panose="020B0604020202020204" pitchFamily="34" charset="0"/>
              <a:buChar char="•"/>
            </a:pPr>
            <a:r>
              <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rPr>
              <a:t>Cryptographic Applications</a:t>
            </a: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35719" y="143915"/>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RESULT </a:t>
            </a:r>
          </a:p>
        </p:txBody>
      </p:sp>
      <p:sp>
        <p:nvSpPr>
          <p:cNvPr id="4" name="Rectangle 3"/>
          <p:cNvSpPr/>
          <p:nvPr/>
        </p:nvSpPr>
        <p:spPr>
          <a:xfrm>
            <a:off x="0" y="4743390"/>
            <a:ext cx="9114693" cy="369332"/>
          </a:xfrm>
          <a:prstGeom prst="rect">
            <a:avLst/>
          </a:prstGeom>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SV COLLEGE OF ENGINEERING, TIRUPATI</a:t>
            </a:r>
            <a:endPar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pic>
        <p:nvPicPr>
          <p:cNvPr id="2" name="Content Placeholder 1">
            <a:extLst>
              <a:ext uri="{FF2B5EF4-FFF2-40B4-BE49-F238E27FC236}">
                <a16:creationId xmlns:a16="http://schemas.microsoft.com/office/drawing/2014/main" id="{F1D2BB20-AB45-58D9-0A3D-C7F88D7156AC}"/>
              </a:ext>
            </a:extLst>
          </p:cNvPr>
          <p:cNvPicPr>
            <a:picLocks noGrp="1" noChangeAspect="1"/>
          </p:cNvPicPr>
          <p:nvPr>
            <p:ph idx="4294967295"/>
          </p:nvPr>
        </p:nvPicPr>
        <p:blipFill>
          <a:blip r:embed="rId4"/>
          <a:stretch>
            <a:fillRect/>
          </a:stretch>
        </p:blipFill>
        <p:spPr>
          <a:xfrm>
            <a:off x="1134328" y="666750"/>
            <a:ext cx="6621343" cy="37226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F507DE-9C6B-0AED-5627-29A8A6695F4D}"/>
              </a:ext>
            </a:extLst>
          </p:cNvPr>
          <p:cNvSpPr txBox="1"/>
          <p:nvPr/>
        </p:nvSpPr>
        <p:spPr>
          <a:xfrm>
            <a:off x="-228600" y="4774168"/>
            <a:ext cx="2133600" cy="369332"/>
          </a:xfrm>
          <a:prstGeom prst="rect">
            <a:avLst/>
          </a:prstGeom>
          <a:noFill/>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
        <p:nvSpPr>
          <p:cNvPr id="5" name="TextBox 4">
            <a:extLst>
              <a:ext uri="{FF2B5EF4-FFF2-40B4-BE49-F238E27FC236}">
                <a16:creationId xmlns:a16="http://schemas.microsoft.com/office/drawing/2014/main" id="{FAFDD9B2-D7A9-1749-7FE8-23EAE8492A82}"/>
              </a:ext>
            </a:extLst>
          </p:cNvPr>
          <p:cNvSpPr txBox="1"/>
          <p:nvPr/>
        </p:nvSpPr>
        <p:spPr>
          <a:xfrm>
            <a:off x="4686300" y="4793218"/>
            <a:ext cx="4686300" cy="369332"/>
          </a:xfrm>
          <a:prstGeom prst="rect">
            <a:avLst/>
          </a:prstGeom>
          <a:noFill/>
        </p:spPr>
        <p:txBody>
          <a:bodyPr wrap="square">
            <a:spAutoFit/>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IN" dirty="0"/>
          </a:p>
        </p:txBody>
      </p:sp>
      <p:pic>
        <p:nvPicPr>
          <p:cNvPr id="6" name="image1.jpeg">
            <a:extLst>
              <a:ext uri="{FF2B5EF4-FFF2-40B4-BE49-F238E27FC236}">
                <a16:creationId xmlns:a16="http://schemas.microsoft.com/office/drawing/2014/main" id="{000DF3B3-EF51-C2FF-073D-24C0CC5F3EC6}"/>
              </a:ext>
            </a:extLst>
          </p:cNvPr>
          <p:cNvPicPr>
            <a:picLocks noChangeAspect="1" noChangeArrowheads="1"/>
          </p:cNvPicPr>
          <p:nvPr/>
        </p:nvPicPr>
        <p:blipFill>
          <a:blip r:embed="rId2" cstate="print"/>
          <a:srcRect/>
          <a:stretch>
            <a:fillRect/>
          </a:stretch>
        </p:blipFill>
        <p:spPr bwMode="auto">
          <a:xfrm>
            <a:off x="1" y="1"/>
            <a:ext cx="762000" cy="590549"/>
          </a:xfrm>
          <a:prstGeom prst="rect">
            <a:avLst/>
          </a:prstGeom>
          <a:noFill/>
          <a:ln w="9525">
            <a:noFill/>
            <a:miter lim="800000"/>
            <a:headEnd/>
            <a:tailEnd/>
          </a:ln>
        </p:spPr>
      </p:pic>
      <p:sp>
        <p:nvSpPr>
          <p:cNvPr id="8" name="TextBox 7">
            <a:extLst>
              <a:ext uri="{FF2B5EF4-FFF2-40B4-BE49-F238E27FC236}">
                <a16:creationId xmlns:a16="http://schemas.microsoft.com/office/drawing/2014/main" id="{BC29B899-6549-5E0E-2F80-8646668DC935}"/>
              </a:ext>
            </a:extLst>
          </p:cNvPr>
          <p:cNvSpPr txBox="1"/>
          <p:nvPr/>
        </p:nvSpPr>
        <p:spPr>
          <a:xfrm>
            <a:off x="2057400" y="133350"/>
            <a:ext cx="4800600" cy="461665"/>
          </a:xfrm>
          <a:prstGeom prst="rect">
            <a:avLst/>
          </a:prstGeom>
          <a:noFill/>
        </p:spPr>
        <p:txBody>
          <a:bodyPr wrap="square">
            <a:spAutoFit/>
          </a:bodyPr>
          <a:lstStyle/>
          <a:p>
            <a:pPr algn="ctr"/>
            <a:r>
              <a:rPr lang="en-US" sz="2400" b="1" dirty="0">
                <a:solidFill>
                  <a:srgbClr val="0070C0"/>
                </a:solidFill>
                <a:latin typeface="Century Gothic" pitchFamily="34" charset="0"/>
                <a:ea typeface="Cambria" panose="02040503050406030204" pitchFamily="18" charset="0"/>
              </a:rPr>
              <a:t>DISCUSSIONS</a:t>
            </a:r>
            <a:endParaRPr lang="en-IN" sz="2400" dirty="0"/>
          </a:p>
        </p:txBody>
      </p:sp>
      <p:sp>
        <p:nvSpPr>
          <p:cNvPr id="9" name="TextBox 8">
            <a:extLst>
              <a:ext uri="{FF2B5EF4-FFF2-40B4-BE49-F238E27FC236}">
                <a16:creationId xmlns:a16="http://schemas.microsoft.com/office/drawing/2014/main" id="{BCC67A29-663F-92A7-F693-8CD8D7342749}"/>
              </a:ext>
            </a:extLst>
          </p:cNvPr>
          <p:cNvSpPr txBox="1"/>
          <p:nvPr/>
        </p:nvSpPr>
        <p:spPr>
          <a:xfrm>
            <a:off x="-533400" y="819150"/>
            <a:ext cx="7238999" cy="3349635"/>
          </a:xfrm>
          <a:prstGeom prst="rect">
            <a:avLst/>
          </a:prstGeom>
          <a:noFill/>
        </p:spPr>
        <p:txBody>
          <a:bodyPr wrap="square">
            <a:spAutoFit/>
          </a:bodyPr>
          <a:lstStyle/>
          <a:p>
            <a:pPr algn="ctr">
              <a:spcAft>
                <a:spcPts val="1000"/>
              </a:spcAft>
            </a:pP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endParaRPr lang="en-IN" sz="1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r>
              <a:rPr lang="en-IN" sz="1000" dirty="0"/>
              <a:t>Showing Area Performance comparison of Existing and Proposed method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9C54E30-98A9-561F-1495-3B5CBC993981}"/>
              </a:ext>
            </a:extLst>
          </p:cNvPr>
          <p:cNvGraphicFramePr>
            <a:graphicFrameLocks noGrp="1"/>
          </p:cNvGraphicFramePr>
          <p:nvPr>
            <p:extLst>
              <p:ext uri="{D42A27DB-BD31-4B8C-83A1-F6EECF244321}">
                <p14:modId xmlns:p14="http://schemas.microsoft.com/office/powerpoint/2010/main" val="2028554977"/>
              </p:ext>
            </p:extLst>
          </p:nvPr>
        </p:nvGraphicFramePr>
        <p:xfrm>
          <a:off x="813816" y="1123950"/>
          <a:ext cx="6095999" cy="1070187"/>
        </p:xfrm>
        <a:graphic>
          <a:graphicData uri="http://schemas.openxmlformats.org/drawingml/2006/table">
            <a:tbl>
              <a:tblPr firstRow="1" bandRow="1">
                <a:tableStyleId>{16D9F66E-5EB9-4882-86FB-DCBF35E3C3E4}</a:tableStyleId>
              </a:tblPr>
              <a:tblGrid>
                <a:gridCol w="481584">
                  <a:extLst>
                    <a:ext uri="{9D8B030D-6E8A-4147-A177-3AD203B41FA5}">
                      <a16:colId xmlns:a16="http://schemas.microsoft.com/office/drawing/2014/main" val="2051215438"/>
                    </a:ext>
                  </a:extLst>
                </a:gridCol>
                <a:gridCol w="1260130">
                  <a:extLst>
                    <a:ext uri="{9D8B030D-6E8A-4147-A177-3AD203B41FA5}">
                      <a16:colId xmlns:a16="http://schemas.microsoft.com/office/drawing/2014/main" val="42717203"/>
                    </a:ext>
                  </a:extLst>
                </a:gridCol>
                <a:gridCol w="870857">
                  <a:extLst>
                    <a:ext uri="{9D8B030D-6E8A-4147-A177-3AD203B41FA5}">
                      <a16:colId xmlns:a16="http://schemas.microsoft.com/office/drawing/2014/main" val="938923362"/>
                    </a:ext>
                  </a:extLst>
                </a:gridCol>
                <a:gridCol w="870857">
                  <a:extLst>
                    <a:ext uri="{9D8B030D-6E8A-4147-A177-3AD203B41FA5}">
                      <a16:colId xmlns:a16="http://schemas.microsoft.com/office/drawing/2014/main" val="1071482831"/>
                    </a:ext>
                  </a:extLst>
                </a:gridCol>
                <a:gridCol w="870857">
                  <a:extLst>
                    <a:ext uri="{9D8B030D-6E8A-4147-A177-3AD203B41FA5}">
                      <a16:colId xmlns:a16="http://schemas.microsoft.com/office/drawing/2014/main" val="2572229372"/>
                    </a:ext>
                  </a:extLst>
                </a:gridCol>
                <a:gridCol w="870857">
                  <a:extLst>
                    <a:ext uri="{9D8B030D-6E8A-4147-A177-3AD203B41FA5}">
                      <a16:colId xmlns:a16="http://schemas.microsoft.com/office/drawing/2014/main" val="743595753"/>
                    </a:ext>
                  </a:extLst>
                </a:gridCol>
                <a:gridCol w="870857">
                  <a:extLst>
                    <a:ext uri="{9D8B030D-6E8A-4147-A177-3AD203B41FA5}">
                      <a16:colId xmlns:a16="http://schemas.microsoft.com/office/drawing/2014/main" val="1626371277"/>
                    </a:ext>
                  </a:extLst>
                </a:gridCol>
              </a:tblGrid>
              <a:tr h="277707">
                <a:tc>
                  <a:txBody>
                    <a:bodyPr/>
                    <a:lstStyle/>
                    <a:p>
                      <a:r>
                        <a:rPr lang="en-US" sz="1200" dirty="0"/>
                        <a:t>s.no</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Model</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Registers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LUT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IOB 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Delay (ns)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Power (w)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9372629"/>
                  </a:ext>
                </a:extLst>
              </a:tr>
              <a:tr h="267547">
                <a:tc>
                  <a:txBody>
                    <a:bodyPr/>
                    <a:lstStyle/>
                    <a:p>
                      <a:pPr algn="ctr"/>
                      <a:r>
                        <a:rPr lang="en-US" sz="1200" dirty="0"/>
                        <a:t>1</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Existing Method</a:t>
                      </a:r>
                      <a:endParaRPr lang="en-IN"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131</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68</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66</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1.172</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t>0.0162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3724068"/>
                  </a:ext>
                </a:extLst>
              </a:tr>
              <a:tr h="277707">
                <a:tc>
                  <a:txBody>
                    <a:bodyPr/>
                    <a:lstStyle/>
                    <a:p>
                      <a:pPr algn="ctr"/>
                      <a:r>
                        <a:rPr lang="en-US" sz="1200" dirty="0"/>
                        <a:t>2</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Proposed Method</a:t>
                      </a:r>
                      <a:endParaRPr lang="en-IN"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99</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65</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66</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0.978</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t>0.0010 7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1340735"/>
                  </a:ext>
                </a:extLst>
              </a:tr>
            </a:tbl>
          </a:graphicData>
        </a:graphic>
      </p:graphicFrame>
      <p:pic>
        <p:nvPicPr>
          <p:cNvPr id="11" name="Picture 10">
            <a:extLst>
              <a:ext uri="{FF2B5EF4-FFF2-40B4-BE49-F238E27FC236}">
                <a16:creationId xmlns:a16="http://schemas.microsoft.com/office/drawing/2014/main" id="{B77364C1-5791-B257-16C2-0A57EB062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816" y="2343150"/>
            <a:ext cx="3509963" cy="1403985"/>
          </a:xfrm>
          <a:prstGeom prst="rect">
            <a:avLst/>
          </a:prstGeom>
        </p:spPr>
      </p:pic>
    </p:spTree>
    <p:extLst>
      <p:ext uri="{BB962C8B-B14F-4D97-AF65-F5344CB8AC3E}">
        <p14:creationId xmlns:p14="http://schemas.microsoft.com/office/powerpoint/2010/main" val="3364138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46061D-3E61-4082-97A0-1DFE87007C8E}"/>
              </a:ext>
            </a:extLst>
          </p:cNvPr>
          <p:cNvSpPr txBox="1"/>
          <p:nvPr/>
        </p:nvSpPr>
        <p:spPr>
          <a:xfrm>
            <a:off x="-228600" y="4793218"/>
            <a:ext cx="1828800" cy="369332"/>
          </a:xfrm>
          <a:prstGeom prst="rect">
            <a:avLst/>
          </a:prstGeom>
          <a:noFill/>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
        <p:nvSpPr>
          <p:cNvPr id="5" name="TextBox 4">
            <a:extLst>
              <a:ext uri="{FF2B5EF4-FFF2-40B4-BE49-F238E27FC236}">
                <a16:creationId xmlns:a16="http://schemas.microsoft.com/office/drawing/2014/main" id="{F4364512-F0DE-E6E5-B70F-C73EFA5425BE}"/>
              </a:ext>
            </a:extLst>
          </p:cNvPr>
          <p:cNvSpPr txBox="1"/>
          <p:nvPr/>
        </p:nvSpPr>
        <p:spPr>
          <a:xfrm>
            <a:off x="4686300" y="4793218"/>
            <a:ext cx="4686300" cy="369332"/>
          </a:xfrm>
          <a:prstGeom prst="rect">
            <a:avLst/>
          </a:prstGeom>
          <a:noFill/>
        </p:spPr>
        <p:txBody>
          <a:bodyPr wrap="square">
            <a:spAutoFit/>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IN" dirty="0"/>
          </a:p>
        </p:txBody>
      </p:sp>
      <p:pic>
        <p:nvPicPr>
          <p:cNvPr id="6" name="image1.jpeg">
            <a:extLst>
              <a:ext uri="{FF2B5EF4-FFF2-40B4-BE49-F238E27FC236}">
                <a16:creationId xmlns:a16="http://schemas.microsoft.com/office/drawing/2014/main" id="{81E93217-9EDB-8B2E-7C81-DC560D4B28DD}"/>
              </a:ext>
            </a:extLst>
          </p:cNvPr>
          <p:cNvPicPr>
            <a:picLocks noChangeAspect="1" noChangeArrowheads="1"/>
          </p:cNvPicPr>
          <p:nvPr/>
        </p:nvPicPr>
        <p:blipFill>
          <a:blip r:embed="rId2" cstate="print"/>
          <a:srcRect/>
          <a:stretch>
            <a:fillRect/>
          </a:stretch>
        </p:blipFill>
        <p:spPr bwMode="auto">
          <a:xfrm>
            <a:off x="1" y="1"/>
            <a:ext cx="762000" cy="590549"/>
          </a:xfrm>
          <a:prstGeom prst="rect">
            <a:avLst/>
          </a:prstGeom>
          <a:noFill/>
          <a:ln w="9525">
            <a:noFill/>
            <a:miter lim="800000"/>
            <a:headEnd/>
            <a:tailEnd/>
          </a:ln>
        </p:spPr>
      </p:pic>
      <p:sp>
        <p:nvSpPr>
          <p:cNvPr id="8" name="TextBox 7">
            <a:extLst>
              <a:ext uri="{FF2B5EF4-FFF2-40B4-BE49-F238E27FC236}">
                <a16:creationId xmlns:a16="http://schemas.microsoft.com/office/drawing/2014/main" id="{37DAAB01-BA0A-8DE5-D9AE-540AB2580912}"/>
              </a:ext>
            </a:extLst>
          </p:cNvPr>
          <p:cNvSpPr txBox="1"/>
          <p:nvPr/>
        </p:nvSpPr>
        <p:spPr>
          <a:xfrm>
            <a:off x="2171700" y="128885"/>
            <a:ext cx="4800600" cy="461665"/>
          </a:xfrm>
          <a:prstGeom prst="rect">
            <a:avLst/>
          </a:prstGeom>
          <a:noFill/>
        </p:spPr>
        <p:txBody>
          <a:bodyPr wrap="square">
            <a:spAutoFit/>
          </a:bodyPr>
          <a:lstStyle/>
          <a:p>
            <a:pPr algn="ctr"/>
            <a:r>
              <a:rPr lang="en-US" sz="2400" b="1" dirty="0">
                <a:solidFill>
                  <a:srgbClr val="0070C0"/>
                </a:solidFill>
                <a:latin typeface="Century Gothic" pitchFamily="34" charset="0"/>
                <a:ea typeface="Cambria" panose="02040503050406030204" pitchFamily="18" charset="0"/>
              </a:rPr>
              <a:t>CONCLUSION</a:t>
            </a:r>
            <a:endParaRPr lang="en-IN" sz="2400" dirty="0"/>
          </a:p>
        </p:txBody>
      </p:sp>
      <p:sp>
        <p:nvSpPr>
          <p:cNvPr id="4" name="TextBox 3">
            <a:extLst>
              <a:ext uri="{FF2B5EF4-FFF2-40B4-BE49-F238E27FC236}">
                <a16:creationId xmlns:a16="http://schemas.microsoft.com/office/drawing/2014/main" id="{D2A004C7-8A21-18CB-82B8-7999C6342D9E}"/>
              </a:ext>
            </a:extLst>
          </p:cNvPr>
          <p:cNvSpPr txBox="1"/>
          <p:nvPr/>
        </p:nvSpPr>
        <p:spPr>
          <a:xfrm>
            <a:off x="771526" y="677198"/>
            <a:ext cx="7391399" cy="3170099"/>
          </a:xfrm>
          <a:prstGeom prst="rect">
            <a:avLst/>
          </a:prstGeom>
          <a:noFill/>
        </p:spPr>
        <p:txBody>
          <a:bodyPr wrap="square">
            <a:spAutoFit/>
          </a:bodyPr>
          <a:lstStyle/>
          <a:p>
            <a:pPr algn="just"/>
            <a:r>
              <a:rPr lang="en-IN" sz="2000" dirty="0">
                <a:solidFill>
                  <a:srgbClr val="0070C0"/>
                </a:solidFill>
              </a:rPr>
              <a:t>In conclusion, the proposed high-efficiency synchronous binary counter achieves a minimal clock period through an optimized parallel architecture. By reducing propagation delays and enhancing synchronization, the design ensures faster and more reliable operation. The use of parallel processing significantly improves performance while maintaining low power consumption. This approach is highly suitable for high-speed digital systems requiring precise timing.</a:t>
            </a:r>
          </a:p>
          <a:p>
            <a:pPr algn="just"/>
            <a:r>
              <a:rPr lang="en-IN" sz="2000" dirty="0">
                <a:solidFill>
                  <a:srgbClr val="0070C0"/>
                </a:solidFill>
              </a:rPr>
              <a:t>Overall, the optimized architecture offers an effective solution for modern high-performance computing applications.</a:t>
            </a:r>
          </a:p>
        </p:txBody>
      </p:sp>
    </p:spTree>
    <p:extLst>
      <p:ext uri="{BB962C8B-B14F-4D97-AF65-F5344CB8AC3E}">
        <p14:creationId xmlns:p14="http://schemas.microsoft.com/office/powerpoint/2010/main" val="2343224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15FD0E-54A2-24A6-8818-042BA26C00ED}"/>
              </a:ext>
            </a:extLst>
          </p:cNvPr>
          <p:cNvSpPr txBox="1"/>
          <p:nvPr/>
        </p:nvSpPr>
        <p:spPr>
          <a:xfrm>
            <a:off x="-152400" y="4781550"/>
            <a:ext cx="1828800" cy="369332"/>
          </a:xfrm>
          <a:prstGeom prst="rect">
            <a:avLst/>
          </a:prstGeom>
          <a:noFill/>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
        <p:nvSpPr>
          <p:cNvPr id="5" name="TextBox 4">
            <a:extLst>
              <a:ext uri="{FF2B5EF4-FFF2-40B4-BE49-F238E27FC236}">
                <a16:creationId xmlns:a16="http://schemas.microsoft.com/office/drawing/2014/main" id="{B93D4FAE-2BF2-D797-D95B-C157CB095718}"/>
              </a:ext>
            </a:extLst>
          </p:cNvPr>
          <p:cNvSpPr txBox="1"/>
          <p:nvPr/>
        </p:nvSpPr>
        <p:spPr>
          <a:xfrm>
            <a:off x="4649392" y="4793218"/>
            <a:ext cx="4647008" cy="369332"/>
          </a:xfrm>
          <a:prstGeom prst="rect">
            <a:avLst/>
          </a:prstGeom>
          <a:noFill/>
        </p:spPr>
        <p:txBody>
          <a:bodyPr wrap="square">
            <a:spAutoFit/>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IN" dirty="0"/>
          </a:p>
        </p:txBody>
      </p:sp>
      <p:pic>
        <p:nvPicPr>
          <p:cNvPr id="6" name="image1.jpeg">
            <a:extLst>
              <a:ext uri="{FF2B5EF4-FFF2-40B4-BE49-F238E27FC236}">
                <a16:creationId xmlns:a16="http://schemas.microsoft.com/office/drawing/2014/main" id="{3E4CEB06-62B4-E005-417B-BE56611D1DC4}"/>
              </a:ext>
            </a:extLst>
          </p:cNvPr>
          <p:cNvPicPr>
            <a:picLocks noChangeAspect="1" noChangeArrowheads="1"/>
          </p:cNvPicPr>
          <p:nvPr/>
        </p:nvPicPr>
        <p:blipFill>
          <a:blip r:embed="rId2" cstate="print"/>
          <a:srcRect/>
          <a:stretch>
            <a:fillRect/>
          </a:stretch>
        </p:blipFill>
        <p:spPr bwMode="auto">
          <a:xfrm>
            <a:off x="1" y="1"/>
            <a:ext cx="762000" cy="590549"/>
          </a:xfrm>
          <a:prstGeom prst="rect">
            <a:avLst/>
          </a:prstGeom>
          <a:noFill/>
          <a:ln w="9525">
            <a:noFill/>
            <a:miter lim="800000"/>
            <a:headEnd/>
            <a:tailEnd/>
          </a:ln>
        </p:spPr>
      </p:pic>
      <p:sp>
        <p:nvSpPr>
          <p:cNvPr id="8" name="TextBox 7">
            <a:extLst>
              <a:ext uri="{FF2B5EF4-FFF2-40B4-BE49-F238E27FC236}">
                <a16:creationId xmlns:a16="http://schemas.microsoft.com/office/drawing/2014/main" id="{0CC51640-18FB-9764-1F60-D75C83F440B8}"/>
              </a:ext>
            </a:extLst>
          </p:cNvPr>
          <p:cNvSpPr txBox="1"/>
          <p:nvPr/>
        </p:nvSpPr>
        <p:spPr>
          <a:xfrm>
            <a:off x="2210991" y="128885"/>
            <a:ext cx="4722018" cy="461665"/>
          </a:xfrm>
          <a:prstGeom prst="rect">
            <a:avLst/>
          </a:prstGeom>
          <a:noFill/>
        </p:spPr>
        <p:txBody>
          <a:bodyPr wrap="square">
            <a:spAutoFit/>
          </a:bodyPr>
          <a:lstStyle/>
          <a:p>
            <a:pPr algn="ctr"/>
            <a:r>
              <a:rPr lang="en-US" sz="2400" b="1" dirty="0">
                <a:solidFill>
                  <a:srgbClr val="0070C0"/>
                </a:solidFill>
                <a:latin typeface="Century Gothic" pitchFamily="34" charset="0"/>
                <a:ea typeface="Cambria" panose="02040503050406030204" pitchFamily="18" charset="0"/>
              </a:rPr>
              <a:t>FUTURE SCOPE</a:t>
            </a:r>
            <a:endParaRPr lang="en-IN" sz="2400" dirty="0"/>
          </a:p>
        </p:txBody>
      </p:sp>
      <p:sp>
        <p:nvSpPr>
          <p:cNvPr id="4" name="TextBox 3">
            <a:extLst>
              <a:ext uri="{FF2B5EF4-FFF2-40B4-BE49-F238E27FC236}">
                <a16:creationId xmlns:a16="http://schemas.microsoft.com/office/drawing/2014/main" id="{67E1DA79-6415-DE5E-86FE-5438EED9B8B3}"/>
              </a:ext>
            </a:extLst>
          </p:cNvPr>
          <p:cNvSpPr txBox="1"/>
          <p:nvPr/>
        </p:nvSpPr>
        <p:spPr>
          <a:xfrm>
            <a:off x="762000" y="623828"/>
            <a:ext cx="7315200" cy="3416320"/>
          </a:xfrm>
          <a:prstGeom prst="rect">
            <a:avLst/>
          </a:prstGeom>
          <a:noFill/>
        </p:spPr>
        <p:txBody>
          <a:bodyPr wrap="square">
            <a:spAutoFit/>
          </a:bodyPr>
          <a:lstStyle/>
          <a:p>
            <a:pPr marL="342900" indent="-342900" algn="just">
              <a:buAutoNum type="arabicPeriod"/>
            </a:pPr>
            <a:r>
              <a:rPr lang="en-IN" b="1" dirty="0">
                <a:solidFill>
                  <a:srgbClr val="0070C0"/>
                </a:solidFill>
              </a:rPr>
              <a:t>Low-Power Optimization – </a:t>
            </a:r>
            <a:r>
              <a:rPr lang="en-IN" dirty="0">
                <a:solidFill>
                  <a:srgbClr val="0070C0"/>
                </a:solidFill>
              </a:rPr>
              <a:t>Further power reduction techniques, such as clock gating and dynamic voltage scaling, can be integrated for energy-efficient computing.</a:t>
            </a:r>
          </a:p>
          <a:p>
            <a:pPr marL="342900" indent="-342900" algn="just">
              <a:buAutoNum type="arabicPeriod"/>
            </a:pPr>
            <a:r>
              <a:rPr lang="en-IN" b="1" dirty="0">
                <a:solidFill>
                  <a:srgbClr val="0070C0"/>
                </a:solidFill>
              </a:rPr>
              <a:t>FPGA and ASIC Implementation – </a:t>
            </a:r>
            <a:r>
              <a:rPr lang="en-IN" dirty="0">
                <a:solidFill>
                  <a:srgbClr val="0070C0"/>
                </a:solidFill>
              </a:rPr>
              <a:t>The architecture can be optimized for real-world implementation in FPGA and ASIC designs, enhancing practical usability in embedded systems.</a:t>
            </a:r>
          </a:p>
          <a:p>
            <a:pPr marL="342900" indent="-342900" algn="just">
              <a:buAutoNum type="arabicPeriod"/>
            </a:pPr>
            <a:r>
              <a:rPr lang="en-IN" b="1" dirty="0">
                <a:solidFill>
                  <a:srgbClr val="0070C0"/>
                </a:solidFill>
              </a:rPr>
              <a:t>AI and IoT Integration – </a:t>
            </a:r>
            <a:r>
              <a:rPr lang="en-IN" dirty="0">
                <a:solidFill>
                  <a:srgbClr val="0070C0"/>
                </a:solidFill>
              </a:rPr>
              <a:t>The counter can be utilized in AI accelerators and IoT edge devices, where high-speed and low-latency processing are critical.</a:t>
            </a:r>
          </a:p>
          <a:p>
            <a:pPr marL="342900" indent="-342900" algn="just">
              <a:buAutoNum type="arabicPeriod"/>
            </a:pPr>
            <a:r>
              <a:rPr lang="en-IN" b="1" dirty="0">
                <a:solidFill>
                  <a:srgbClr val="0070C0"/>
                </a:solidFill>
              </a:rPr>
              <a:t>Adaptive Clocking Techniques – </a:t>
            </a:r>
            <a:r>
              <a:rPr lang="en-IN" dirty="0">
                <a:solidFill>
                  <a:srgbClr val="0070C0"/>
                </a:solidFill>
              </a:rPr>
              <a:t>Future improvements can incorporate adaptive clocking mechanisms to dynamically adjust performance based on system requirements.</a:t>
            </a:r>
          </a:p>
        </p:txBody>
      </p:sp>
    </p:spTree>
    <p:extLst>
      <p:ext uri="{BB962C8B-B14F-4D97-AF65-F5344CB8AC3E}">
        <p14:creationId xmlns:p14="http://schemas.microsoft.com/office/powerpoint/2010/main" val="638295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33350"/>
            <a:ext cx="8991600" cy="415529"/>
          </a:xfrm>
        </p:spPr>
        <p:txBody>
          <a:bodyPr>
            <a:normAutofit/>
          </a:bodyPr>
          <a:lstStyle/>
          <a:p>
            <a:pPr algn="ctr"/>
            <a:r>
              <a:rPr lang="en-US" sz="2400" b="1" dirty="0">
                <a:solidFill>
                  <a:srgbClr val="0070C0"/>
                </a:solidFill>
                <a:latin typeface="Century Gothic" pitchFamily="34" charset="0"/>
                <a:ea typeface="Cambria" panose="02040503050406030204" pitchFamily="18" charset="0"/>
              </a:rPr>
              <a:t>REFERENCESS</a:t>
            </a:r>
          </a:p>
        </p:txBody>
      </p:sp>
      <p:sp>
        <p:nvSpPr>
          <p:cNvPr id="7" name="Content Placeholder 6"/>
          <p:cNvSpPr>
            <a:spLocks noGrp="1"/>
          </p:cNvSpPr>
          <p:nvPr>
            <p:ph idx="4294967295"/>
          </p:nvPr>
        </p:nvSpPr>
        <p:spPr>
          <a:xfrm>
            <a:off x="228600" y="666750"/>
            <a:ext cx="8432800" cy="3723323"/>
          </a:xfrm>
        </p:spPr>
        <p:txBody>
          <a:bodyPr>
            <a:normAutofit/>
          </a:bodyPr>
          <a:lstStyle/>
          <a:p>
            <a:pPr algn="just">
              <a:buClr>
                <a:srgbClr val="0070C0"/>
              </a:buClr>
              <a:buFont typeface="Arial" panose="020B0604020202020204" pitchFamily="34" charset="0"/>
              <a:buChar char="•"/>
            </a:pP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[1] M.R. Stan, A.F. </a:t>
            </a:r>
            <a:r>
              <a:rPr lang="en-US" sz="2000" dirty="0" err="1">
                <a:solidFill>
                  <a:srgbClr val="0070C0"/>
                </a:solidFill>
                <a:latin typeface="Cambria" panose="02040503050406030204" pitchFamily="18" charset="0"/>
                <a:ea typeface="Cambria" panose="02040503050406030204" pitchFamily="18" charset="0"/>
                <a:cs typeface="Times New Roman" panose="02020603050405020304" pitchFamily="18" charset="0"/>
              </a:rPr>
              <a:t>Tenca</a:t>
            </a: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 M.D. </a:t>
            </a:r>
            <a:r>
              <a:rPr lang="en-US" sz="2000" dirty="0" err="1">
                <a:solidFill>
                  <a:srgbClr val="0070C0"/>
                </a:solidFill>
                <a:latin typeface="Cambria" panose="02040503050406030204" pitchFamily="18" charset="0"/>
                <a:ea typeface="Cambria" panose="02040503050406030204" pitchFamily="18" charset="0"/>
                <a:cs typeface="Times New Roman" panose="02020603050405020304" pitchFamily="18" charset="0"/>
              </a:rPr>
              <a:t>Ercegovac</a:t>
            </a: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 "Long and fast up/down counters", Computers IEEE Transactions on, vol. 47, no. 7, pp. 722-735, 1998.</a:t>
            </a:r>
          </a:p>
          <a:p>
            <a:pPr algn="just">
              <a:buClr>
                <a:srgbClr val="0070C0"/>
              </a:buClr>
              <a:buFont typeface="Arial" panose="020B0604020202020204" pitchFamily="34" charset="0"/>
              <a:buChar char="•"/>
            </a:pP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[2] J. -. Yuan, "Efficient CMOS counter circuits," in Electronics Letters, vol. 24, no. 21, pp. 1311-1313, 13 Oct. 1988, </a:t>
            </a:r>
            <a:r>
              <a:rPr lang="en-US" sz="2000" dirty="0" err="1">
                <a:solidFill>
                  <a:srgbClr val="0070C0"/>
                </a:solidFill>
                <a:latin typeface="Cambria" panose="02040503050406030204" pitchFamily="18" charset="0"/>
                <a:ea typeface="Cambria" panose="02040503050406030204" pitchFamily="18" charset="0"/>
                <a:cs typeface="Times New Roman" panose="02020603050405020304" pitchFamily="18" charset="0"/>
              </a:rPr>
              <a:t>doi</a:t>
            </a: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 10.1049/el:19880891.</a:t>
            </a:r>
          </a:p>
          <a:p>
            <a:pPr algn="just">
              <a:buClr>
                <a:srgbClr val="0070C0"/>
              </a:buClr>
              <a:buFont typeface="Arial" panose="020B0604020202020204" pitchFamily="34" charset="0"/>
              <a:buChar char="•"/>
            </a:pP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[3] S. Abdel-Hafeez, S. M. Harb and W. R. Eisenstadt, "High speed digital CMOS divide-by-N frequency divider," 2008 IEEE International Symposium on Circuits and Systems, Seattle, WA, 2008, pp. 592-595, </a:t>
            </a:r>
            <a:r>
              <a:rPr lang="en-US" sz="2000" dirty="0" err="1">
                <a:solidFill>
                  <a:srgbClr val="0070C0"/>
                </a:solidFill>
                <a:latin typeface="Cambria" panose="02040503050406030204" pitchFamily="18" charset="0"/>
                <a:ea typeface="Cambria" panose="02040503050406030204" pitchFamily="18" charset="0"/>
                <a:cs typeface="Times New Roman" panose="02020603050405020304" pitchFamily="18" charset="0"/>
              </a:rPr>
              <a:t>doi</a:t>
            </a:r>
            <a:r>
              <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rPr>
              <a:t>: 10.1109/ISCAS.2008.4541487.</a:t>
            </a: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marL="0" indent="0" algn="just">
              <a:buClr>
                <a:srgbClr val="0070C0"/>
              </a:buClr>
              <a:buNone/>
            </a:pPr>
            <a:endParaRPr lang="en-US" sz="2000"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algn="just">
              <a:buClr>
                <a:srgbClr val="0070C0"/>
              </a:buClr>
              <a:buFont typeface="Arial" panose="020B0604020202020204" pitchFamily="34" charset="0"/>
              <a:buChar char="•"/>
            </a:pPr>
            <a:endParaRPr lang="en-US"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4" name="Rectangle 3"/>
          <p:cNvSpPr/>
          <p:nvPr/>
        </p:nvSpPr>
        <p:spPr>
          <a:xfrm>
            <a:off x="0" y="4743390"/>
            <a:ext cx="9114693" cy="400110"/>
          </a:xfrm>
          <a:prstGeom prst="rect">
            <a:avLst/>
          </a:prstGeom>
        </p:spPr>
        <p:txBody>
          <a:bodyPr wrap="square">
            <a:spAutoFit/>
          </a:bodyPr>
          <a:lstStyle/>
          <a:p>
            <a:pPr algn="ctr"/>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8" name="image1.jpeg"/>
          <p:cNvPicPr>
            <a:picLocks noChangeAspect="1" noChangeArrowheads="1"/>
          </p:cNvPicPr>
          <p:nvPr/>
        </p:nvPicPr>
        <p:blipFill>
          <a:blip r:embed="rId3" cstate="print"/>
          <a:srcRect/>
          <a:stretch>
            <a:fillRect/>
          </a:stretch>
        </p:blipFill>
        <p:spPr bwMode="auto">
          <a:xfrm>
            <a:off x="1" y="1"/>
            <a:ext cx="762000" cy="590549"/>
          </a:xfrm>
          <a:prstGeom prst="rect">
            <a:avLst/>
          </a:prstGeom>
          <a:noFill/>
          <a:ln w="9525">
            <a:noFill/>
            <a:miter lim="800000"/>
            <a:headEnd/>
            <a:tailEnd/>
          </a:ln>
        </p:spPr>
      </p:pic>
      <p:sp>
        <p:nvSpPr>
          <p:cNvPr id="9" name="Rectangle 8"/>
          <p:cNvSpPr/>
          <p:nvPr/>
        </p:nvSpPr>
        <p:spPr>
          <a:xfrm>
            <a:off x="0" y="4774168"/>
            <a:ext cx="1539204" cy="369332"/>
          </a:xfrm>
          <a:prstGeom prst="rect">
            <a:avLst/>
          </a:prstGeom>
        </p:spPr>
        <p:txBody>
          <a:bodyPr wrap="non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602A7F-8122-F9DA-E8B5-5A585494DC28}"/>
              </a:ext>
            </a:extLst>
          </p:cNvPr>
          <p:cNvSpPr txBox="1"/>
          <p:nvPr/>
        </p:nvSpPr>
        <p:spPr>
          <a:xfrm>
            <a:off x="-76200" y="4774168"/>
            <a:ext cx="1600200" cy="369332"/>
          </a:xfrm>
          <a:prstGeom prst="rect">
            <a:avLst/>
          </a:prstGeom>
          <a:noFill/>
        </p:spPr>
        <p:txBody>
          <a:bodyPr wrap="square">
            <a:spAutoFit/>
          </a:bodyPr>
          <a:lstStyle/>
          <a:p>
            <a:pPr algn="ct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itchFamily="34" charset="0"/>
              </a:rPr>
              <a:t>Dept. of ECE</a:t>
            </a:r>
          </a:p>
        </p:txBody>
      </p:sp>
      <p:sp>
        <p:nvSpPr>
          <p:cNvPr id="5" name="TextBox 4">
            <a:extLst>
              <a:ext uri="{FF2B5EF4-FFF2-40B4-BE49-F238E27FC236}">
                <a16:creationId xmlns:a16="http://schemas.microsoft.com/office/drawing/2014/main" id="{58D49C39-A93B-EF18-4985-1B7DC03D803A}"/>
              </a:ext>
            </a:extLst>
          </p:cNvPr>
          <p:cNvSpPr txBox="1"/>
          <p:nvPr/>
        </p:nvSpPr>
        <p:spPr>
          <a:xfrm>
            <a:off x="4724400" y="4774168"/>
            <a:ext cx="4611290" cy="369332"/>
          </a:xfrm>
          <a:prstGeom prst="rect">
            <a:avLst/>
          </a:prstGeom>
          <a:noFill/>
        </p:spPr>
        <p:txBody>
          <a:bodyPr wrap="square">
            <a:spAutoFit/>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Gothic" panose="020B0502020202020204" pitchFamily="34" charset="0"/>
              </a:rPr>
              <a:t>SV COLLEGE OF ENGINEERING, TIRUPATI</a:t>
            </a:r>
            <a:endParaRPr lang="en-IN" dirty="0"/>
          </a:p>
        </p:txBody>
      </p:sp>
      <p:pic>
        <p:nvPicPr>
          <p:cNvPr id="6" name="image1.jpeg">
            <a:extLst>
              <a:ext uri="{FF2B5EF4-FFF2-40B4-BE49-F238E27FC236}">
                <a16:creationId xmlns:a16="http://schemas.microsoft.com/office/drawing/2014/main" id="{E978F15C-71CC-6502-0474-14F17024816F}"/>
              </a:ext>
            </a:extLst>
          </p:cNvPr>
          <p:cNvPicPr>
            <a:picLocks noChangeAspect="1" noChangeArrowheads="1"/>
          </p:cNvPicPr>
          <p:nvPr/>
        </p:nvPicPr>
        <p:blipFill>
          <a:blip r:embed="rId2" cstate="print"/>
          <a:srcRect/>
          <a:stretch>
            <a:fillRect/>
          </a:stretch>
        </p:blipFill>
        <p:spPr bwMode="auto">
          <a:xfrm>
            <a:off x="1" y="1"/>
            <a:ext cx="762000" cy="590549"/>
          </a:xfrm>
          <a:prstGeom prst="rect">
            <a:avLst/>
          </a:prstGeom>
          <a:noFill/>
          <a:ln w="9525">
            <a:noFill/>
            <a:miter lim="800000"/>
            <a:headEnd/>
            <a:tailEnd/>
          </a:ln>
        </p:spPr>
      </p:pic>
      <p:sp>
        <p:nvSpPr>
          <p:cNvPr id="8" name="TextBox 7">
            <a:extLst>
              <a:ext uri="{FF2B5EF4-FFF2-40B4-BE49-F238E27FC236}">
                <a16:creationId xmlns:a16="http://schemas.microsoft.com/office/drawing/2014/main" id="{904D391B-33A8-D730-E4C0-A0537688B677}"/>
              </a:ext>
            </a:extLst>
          </p:cNvPr>
          <p:cNvSpPr txBox="1"/>
          <p:nvPr/>
        </p:nvSpPr>
        <p:spPr>
          <a:xfrm>
            <a:off x="2895600" y="306765"/>
            <a:ext cx="3048000" cy="400110"/>
          </a:xfrm>
          <a:prstGeom prst="rect">
            <a:avLst/>
          </a:prstGeom>
          <a:noFill/>
        </p:spPr>
        <p:txBody>
          <a:bodyPr wrap="square">
            <a:spAutoFit/>
          </a:bodyPr>
          <a:lstStyle/>
          <a:p>
            <a:r>
              <a:rPr lang="en-US" sz="2000" b="1" dirty="0">
                <a:solidFill>
                  <a:srgbClr val="0070C0"/>
                </a:solidFill>
                <a:latin typeface="Century Gothic" pitchFamily="34" charset="0"/>
                <a:ea typeface="Cambria" panose="02040503050406030204" pitchFamily="18" charset="0"/>
              </a:rPr>
              <a:t>PUBLICATION DETAILS</a:t>
            </a:r>
            <a:endParaRPr lang="en-IN" sz="2000" dirty="0"/>
          </a:p>
        </p:txBody>
      </p:sp>
      <p:sp>
        <p:nvSpPr>
          <p:cNvPr id="12" name="TextBox 11">
            <a:extLst>
              <a:ext uri="{FF2B5EF4-FFF2-40B4-BE49-F238E27FC236}">
                <a16:creationId xmlns:a16="http://schemas.microsoft.com/office/drawing/2014/main" id="{C8B0E16E-4739-A49A-0573-E728E2081189}"/>
              </a:ext>
            </a:extLst>
          </p:cNvPr>
          <p:cNvSpPr txBox="1"/>
          <p:nvPr/>
        </p:nvSpPr>
        <p:spPr>
          <a:xfrm>
            <a:off x="914400" y="1047750"/>
            <a:ext cx="6781800" cy="3139321"/>
          </a:xfrm>
          <a:prstGeom prst="rect">
            <a:avLst/>
          </a:prstGeom>
          <a:noFill/>
        </p:spPr>
        <p:txBody>
          <a:bodyPr wrap="square">
            <a:spAutoFit/>
          </a:bodyPr>
          <a:lstStyle/>
          <a:p>
            <a:pPr marL="285750" indent="-285750">
              <a:buFont typeface="Wingdings" panose="05000000000000000000" pitchFamily="2" charset="2"/>
              <a:buChar char="§"/>
            </a:pPr>
            <a:r>
              <a:rPr lang="en-US" b="1" dirty="0">
                <a:solidFill>
                  <a:srgbClr val="0070C0"/>
                </a:solidFill>
              </a:rPr>
              <a:t>Paper Title : </a:t>
            </a:r>
            <a:r>
              <a:rPr lang="en-IN" dirty="0">
                <a:solidFill>
                  <a:srgbClr val="0070C0"/>
                </a:solidFill>
              </a:rPr>
              <a:t>High-Efficiency Synchronous Binary Counter with Minimal Clock period Using Optimized Parallel Architecture</a:t>
            </a:r>
          </a:p>
          <a:p>
            <a:pPr marL="285750" indent="-285750">
              <a:buFont typeface="Wingdings" panose="05000000000000000000" pitchFamily="2" charset="2"/>
              <a:buChar char="§"/>
            </a:pPr>
            <a:endParaRPr lang="en-IN" dirty="0">
              <a:solidFill>
                <a:srgbClr val="0070C0"/>
              </a:solidFill>
            </a:endParaRPr>
          </a:p>
          <a:p>
            <a:pPr marL="285750" indent="-285750">
              <a:buFont typeface="Wingdings" panose="05000000000000000000" pitchFamily="2" charset="2"/>
              <a:buChar char="§"/>
            </a:pPr>
            <a:r>
              <a:rPr lang="en-US" b="1" dirty="0">
                <a:solidFill>
                  <a:srgbClr val="0070C0"/>
                </a:solidFill>
              </a:rPr>
              <a:t>Published In : </a:t>
            </a:r>
            <a:r>
              <a:rPr lang="en-US" dirty="0">
                <a:solidFill>
                  <a:srgbClr val="0070C0"/>
                </a:solidFill>
              </a:rPr>
              <a:t>International Journal of Innovative Research in Science, Engineering and Technology (IJIRSET)</a:t>
            </a:r>
          </a:p>
          <a:p>
            <a:endParaRPr lang="en-US" dirty="0">
              <a:solidFill>
                <a:srgbClr val="0070C0"/>
              </a:solidFill>
            </a:endParaRPr>
          </a:p>
          <a:p>
            <a:pPr marL="285750" indent="-285750">
              <a:buFont typeface="Wingdings" panose="05000000000000000000" pitchFamily="2" charset="2"/>
              <a:buChar char="§"/>
            </a:pPr>
            <a:r>
              <a:rPr lang="en-US" b="1" dirty="0">
                <a:solidFill>
                  <a:srgbClr val="0070C0"/>
                </a:solidFill>
              </a:rPr>
              <a:t>Paper ID : </a:t>
            </a:r>
            <a:r>
              <a:rPr lang="en-US" dirty="0">
                <a:solidFill>
                  <a:srgbClr val="0070C0"/>
                </a:solidFill>
              </a:rPr>
              <a:t>IJIRSET.2025.14040232</a:t>
            </a:r>
          </a:p>
          <a:p>
            <a:pPr marL="285750" indent="-285750">
              <a:buFont typeface="Wingdings" panose="05000000000000000000" pitchFamily="2" charset="2"/>
              <a:buChar char="§"/>
            </a:pPr>
            <a:endParaRPr lang="en-US" dirty="0">
              <a:solidFill>
                <a:srgbClr val="0070C0"/>
              </a:solidFill>
            </a:endParaRPr>
          </a:p>
          <a:p>
            <a:pPr marL="285750" indent="-285750">
              <a:buFont typeface="Wingdings" panose="05000000000000000000" pitchFamily="2" charset="2"/>
              <a:buChar char="§"/>
            </a:pPr>
            <a:r>
              <a:rPr lang="en-US" b="1" dirty="0">
                <a:solidFill>
                  <a:srgbClr val="0070C0"/>
                </a:solidFill>
              </a:rPr>
              <a:t>Date of Issue: 04-04-2025</a:t>
            </a:r>
          </a:p>
          <a:p>
            <a:endParaRPr lang="en-US" dirty="0">
              <a:solidFill>
                <a:srgbClr val="0070C0"/>
              </a:solidFill>
            </a:endParaRPr>
          </a:p>
          <a:p>
            <a:pPr marL="285750" indent="-285750">
              <a:buFont typeface="Wingdings" panose="05000000000000000000" pitchFamily="2" charset="2"/>
              <a:buChar char="§"/>
            </a:pPr>
            <a:r>
              <a:rPr lang="en-US" b="1" dirty="0">
                <a:solidFill>
                  <a:srgbClr val="0070C0"/>
                </a:solidFill>
              </a:rPr>
              <a:t>Status : </a:t>
            </a:r>
            <a:r>
              <a:rPr lang="en-US" dirty="0">
                <a:solidFill>
                  <a:srgbClr val="0070C0"/>
                </a:solidFill>
              </a:rPr>
              <a:t>Accepted and Published</a:t>
            </a:r>
          </a:p>
        </p:txBody>
      </p:sp>
    </p:spTree>
    <p:extLst>
      <p:ext uri="{BB962C8B-B14F-4D97-AF65-F5344CB8AC3E}">
        <p14:creationId xmlns:p14="http://schemas.microsoft.com/office/powerpoint/2010/main" val="31698847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679</TotalTime>
  <Words>1661</Words>
  <Application>Microsoft Office PowerPoint</Application>
  <PresentationFormat>On-screen Show (16:9)</PresentationFormat>
  <Paragraphs>257</Paragraphs>
  <Slides>21</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Calibri Light</vt:lpstr>
      <vt:lpstr>Cambria</vt:lpstr>
      <vt:lpstr>Century Gothic</vt:lpstr>
      <vt:lpstr>Quattrocento Sans</vt:lpstr>
      <vt:lpstr>Times New Roman</vt:lpstr>
      <vt:lpstr>Wingdings</vt:lpstr>
      <vt:lpstr>Retrospect</vt:lpstr>
      <vt:lpstr>PowerPoint Presentation</vt:lpstr>
      <vt:lpstr>CONTENTS</vt:lpstr>
      <vt:lpstr>PROBLEM IDENTIFICATION</vt:lpstr>
      <vt:lpstr>OBJECTIVES</vt:lpstr>
      <vt:lpstr>ABSTRACT</vt:lpstr>
      <vt:lpstr>INTRODUCTION</vt:lpstr>
      <vt:lpstr>MOTIVATION OF THE PROJECT</vt:lpstr>
      <vt:lpstr>EXISTING METHOD</vt:lpstr>
      <vt:lpstr>DISADVANTAGES</vt:lpstr>
      <vt:lpstr>PROPOSED METHOD</vt:lpstr>
      <vt:lpstr>BLOCK DIAGRAM</vt:lpstr>
      <vt:lpstr>METHODOLOGY</vt:lpstr>
      <vt:lpstr>REQUIREMENTS</vt:lpstr>
      <vt:lpstr>ADVANTAGES</vt:lpstr>
      <vt:lpstr>APPLICATIONS</vt:lpstr>
      <vt:lpstr>RESULT </vt:lpstr>
      <vt:lpstr>PowerPoint Presentation</vt:lpstr>
      <vt:lpstr>PowerPoint Presentation</vt:lpstr>
      <vt:lpstr>PowerPoint Presentation</vt:lpstr>
      <vt:lpstr>REFERENCESS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Sequential Elements for Low Power Clocking System</dc:title>
  <dc:creator>SENTHIL</dc:creator>
  <cp:lastModifiedBy>Aditya Kuncham</cp:lastModifiedBy>
  <cp:revision>325</cp:revision>
  <dcterms:created xsi:type="dcterms:W3CDTF">2011-08-04T07:44:00Z</dcterms:created>
  <dcterms:modified xsi:type="dcterms:W3CDTF">2025-04-18T09:19:16Z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416EF2A2F44F4A55A68BA8AC5513396C</vt:lpwstr>
  </property>
  <property fmtid="{D5CDD505-2E9C-101B-9397-08002B2CF9AE}" pid="3" name="KSOProductBuildVer">
    <vt:lpwstr>1033-11.2.0.11225</vt:lpwstr>
  </property>
</Properties>
</file>